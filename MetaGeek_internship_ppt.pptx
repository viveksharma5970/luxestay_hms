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37" r:id="rId4"/>
  </p:sldMasterIdLst>
  <p:notesMasterIdLst>
    <p:notesMasterId r:id="rId21"/>
  </p:notesMasterIdLst>
  <p:handoutMasterIdLst>
    <p:handoutMasterId r:id="rId22"/>
  </p:handoutMasterIdLst>
  <p:sldIdLst>
    <p:sldId id="262" r:id="rId5"/>
    <p:sldId id="2147483644" r:id="rId6"/>
    <p:sldId id="2147483646" r:id="rId7"/>
    <p:sldId id="2147483647" r:id="rId8"/>
    <p:sldId id="256" r:id="rId9"/>
    <p:sldId id="260" r:id="rId10"/>
    <p:sldId id="257" r:id="rId11"/>
    <p:sldId id="258" r:id="rId12"/>
    <p:sldId id="259" r:id="rId13"/>
    <p:sldId id="261" r:id="rId14"/>
    <p:sldId id="267" r:id="rId15"/>
    <p:sldId id="264" r:id="rId16"/>
    <p:sldId id="265" r:id="rId17"/>
    <p:sldId id="268" r:id="rId18"/>
    <p:sldId id="266" r:id="rId19"/>
    <p:sldId id="2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0546B07-81DF-26B0-5D4F-6F202748FAF3}" name="Bhagwat Kumar" initials="BK" userId="S::bhagwat.kumar@mphasis.com::68819df8-096b-407b-a66b-90a8c067aa41" providerId="AD"/>
  <p188:author id="{3987B608-771F-7B1F-4CE1-61E4577F4E0F}" name="Tarun Singh" initials="" userId="S::tarun.singh@mphasis.com::b74f7aa2-56a4-4584-a336-a14805c07128" providerId="AD"/>
  <p188:author id="{0CF1D70B-643C-C948-5BF8-2A7DC8ABF81D}" name="Pankaj K" initials="" userId="S::Pankaj.K@mphasis.com::6723735c-4e13-42bf-b507-6a581143f2a1" providerId="AD"/>
  <p188:author id="{B8D3D01A-84EA-A2C1-A2F6-262DB6714978}" name="Manoj YadavR" initials="" userId="S::manoj.yadavr@mphasis.com::578d21c4-8d5a-481b-8f39-925950ac1911" providerId="AD"/>
  <p188:author id="{B01CF01F-5D13-1154-F17D-AE6CB71DCE1B}" name="Pradeep Patil2" initials="PP" userId="S::pradeep.patil2@mphasis.com::c925aa4f-a790-4b2e-b75d-20eb9ce546eb" providerId="AD"/>
  <p188:author id="{71FFE85C-669C-D242-6EF2-84596B51718F}" name="Sachin Garg" initials="SG" userId="S::sachin.garg@mphasis.com::1be550f1-2aaa-4cf8-82f2-5d866e76ec74" providerId="AD"/>
  <p188:author id="{9C34557B-6AD1-92A7-D072-BF8E40B7EC2E}" name="Nitin Nikhare" initials="NN" userId="S::Nitin.Nikhare@mphasis.com::52c7fc5c-129c-4b2d-b541-73b361ab91ad" providerId="AD"/>
  <p188:author id="{54545184-6CEE-F7AE-5ED5-73508AA5C4B2}" name="Suresh Vedakumar" initials="" userId="S::Suresh.Vedakumar@mphasis.com::49bfc379-8cf4-4b9a-8ebc-c5c8aa11087f" providerId="AD"/>
  <p188:author id="{852B2E86-17A4-2DDE-A2AC-1416DEEE5E99}" name="Cory Schmeisser" initials="" userId="S::christopher.s@mphasis.com::2d2606f9-6743-461c-9d15-ba31868ffad0" providerId="AD"/>
  <p188:author id="{DD81EF9E-4331-13EA-C61A-31DC2ED8843B}" name="Bharath Mohan" initials="BM" userId="S::bharath.mohan@mphasis.com::a5e4abd3-f893-4c55-b0fd-5b7d602f8f17" providerId="AD"/>
  <p188:author id="{B6BBD6A3-2A41-B735-45A8-31461AD6F56A}" name="Gregory Wittenbrook" initials="GW" userId="S::gregory.wittenbrook@mphasis.com::69282454-7b9b-4344-b768-0bba4367768d" providerId="AD"/>
  <p188:author id="{7450CCAA-C305-548B-CF06-0936523CE03B}" name="Neil Gulino" initials="AG" userId="S::aniello.gulino@mphasis.com::1232f894-46f9-49f5-98c6-74d967b641dc" providerId="AD"/>
  <p188:author id="{4BCF3FAF-517B-F0B1-8449-DF6001540CA8}" name="Nitin Bhardwaj" initials="" userId="S::Nitin.Bhardwaj@mphasis.com::cc4f3cb3-de40-41b6-8223-4ecd0ca618ac" providerId="AD"/>
  <p188:author id="{CB2045B6-833E-68BE-62DF-7061E1935E43}" name="Agnelo Marques" initials="AM" userId="S::Agnelo.Marques@mphasis.com::bbb62c81-9619-4414-a31f-ed82752ab3ed" providerId="AD"/>
  <p188:author id="{A8D1E8BC-2B01-38A9-7260-4332A114902B}" name="Shaunak Dave" initials="SD" userId="S::shaunak.dave@mphasis.com::1c50db4f-3016-4a08-86bd-38ae7f1a70a1" providerId="AD"/>
  <p188:author id="{816E6EC3-05B7-B620-F7CB-46649E35BCFF}" name="Sourav Sengupta" initials="SS" userId="S::sourav.sengupta1@mphasis.com::049a0a2c-3c7e-49c3-b69e-d0adbca98e73" providerId="AD"/>
  <p188:author id="{4F4718CC-3EBE-E1AA-5B24-7E9C162409A6}" name="ESAKKIMUTHU DOSS" initials="" userId="S::esakkimuthu.doss@mphasis.com::feac13dd-346d-41a6-a2d8-1905572a4378" providerId="AD"/>
  <p188:author id="{9BC55ED1-A248-1467-7C85-C185A2740726}" name="Karthik x2" initials="" userId="S::karthik.x2@mphasis.com::1e37a22a-3fce-46c9-84bf-51b98c7af908" providerId="AD"/>
  <p188:author id="{64D8B5DA-DEF1-DE99-5E46-4E7A5D18A2F0}" name="Jobin Abraham" initials="JA" userId="S::jobin.abraham@mphasis.com::7bc7eed5-2d03-458c-ba36-3f4563f99fa0" providerId="AD"/>
  <p188:author id="{05423CE0-1419-C6D5-4ABA-2CAEFEAB8FEC}" name="Mahamed Arif" initials="MA" userId="S::Mahamed.Arif@mphasis.com::c71255ab-98e0-4b03-b104-7b080406bc97" providerId="AD"/>
  <p188:author id="{DCE1DCE4-E3B0-658C-6C31-678DA75BF6F5}" name="Maligouder V" initials="VM" userId="S::v.maligouder@mphasis.com::a6188fb2-6afa-4573-bf74-4e49d3030c61" providerId="AD"/>
  <p188:author id="{5915F2E4-1EC6-41E2-D923-7C5F19A8E996}" name="Hari Prasad Reddy A.M." initials="" userId="S::hari.a.m@mphasis.com::1157a967-c109-4ef4-b5d6-f947c54cc270" providerId="AD"/>
  <p188:author id="{D39523E9-4D0F-C049-64DD-B0B3D6B07606}" name="M Logarajan" initials="ML" userId="S::m.logarajan@mphasis.com::3327ceb2-5260-4271-b448-a1a2477942bf" providerId="AD"/>
  <p188:author id="{228B85ED-C90C-655A-B6C8-FABDF7FCE0D4}" name="Jyotsna Kancherlapalli" initials="" userId="S::jyotsna.k@mphasis.com::15697502-6bf2-42b6-b373-98896a769981" providerId="AD"/>
  <p188:author id="{220621FC-929A-5F45-AA8A-3FA5201DDF9F}" name="Karthika Nair H" initials="" userId="S::karthika.harikumaran@mphasis.com::d3b25def-5080-4077-9a69-e541532e39d9" providerId="AD"/>
  <p188:author id="{628EECFF-B723-96FF-9FC4-8091B4A9AB77}" name="VenkataSai Pulluri" initials="VP" userId="S::venkatasai.pulluri@mphasis.com::423652eb-a979-4928-8bb0-2cd519ec9a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7A"/>
    <a:srgbClr val="FF4800"/>
    <a:srgbClr val="E20074"/>
    <a:srgbClr val="38A0AD"/>
    <a:srgbClr val="E8E8E8"/>
    <a:srgbClr val="ED008C"/>
    <a:srgbClr val="85AC2E"/>
    <a:srgbClr val="FF3500"/>
    <a:srgbClr val="969696"/>
    <a:srgbClr val="9CD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49472-BCC3-00E4-D413-A253FFE99562}" v="255" dt="2026-03-31T11:18:40.623"/>
    <p1510:client id="{512D7100-1187-2090-4788-8BD50980FE25}" v="9" dt="2026-04-01T14:27:48.942"/>
    <p1510:client id="{80DF42F0-3D73-8AAB-01A5-7AE34CAF5897}" v="388" dt="2026-03-31T11:28:36.634"/>
    <p1510:client id="{8CB40699-7088-4C72-A8CB-835A43C884E3}" v="1" dt="2026-03-31T10:49:16.807"/>
    <p1510:client id="{A2004FF3-0A21-DF14-03DD-56408F56B01D}" v="47" dt="2026-03-31T11:40:43.809"/>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ruv X" userId="S::dhruv.x@mphasis.com::decf69e2-7656-4419-bcce-b160ba08267f" providerId="AD" clId="Web-{A2004FF3-0A21-DF14-03DD-56408F56B01D}"/>
    <pc:docChg chg="modSld">
      <pc:chgData name="Dhruv X" userId="S::dhruv.x@mphasis.com::decf69e2-7656-4419-bcce-b160ba08267f" providerId="AD" clId="Web-{A2004FF3-0A21-DF14-03DD-56408F56B01D}" dt="2026-03-31T11:40:43.809" v="40"/>
      <pc:docMkLst>
        <pc:docMk/>
      </pc:docMkLst>
      <pc:sldChg chg="modSp">
        <pc:chgData name="Dhruv X" userId="S::dhruv.x@mphasis.com::decf69e2-7656-4419-bcce-b160ba08267f" providerId="AD" clId="Web-{A2004FF3-0A21-DF14-03DD-56408F56B01D}" dt="2026-03-31T11:40:43.809" v="40"/>
        <pc:sldMkLst>
          <pc:docMk/>
          <pc:sldMk cId="2007610425" sldId="257"/>
        </pc:sldMkLst>
        <pc:graphicFrameChg chg="mod modGraphic">
          <ac:chgData name="Dhruv X" userId="S::dhruv.x@mphasis.com::decf69e2-7656-4419-bcce-b160ba08267f" providerId="AD" clId="Web-{A2004FF3-0A21-DF14-03DD-56408F56B01D}" dt="2026-03-31T11:40:43.809" v="40"/>
          <ac:graphicFrameMkLst>
            <pc:docMk/>
            <pc:sldMk cId="2007610425" sldId="257"/>
            <ac:graphicFrameMk id="4" creationId="{279582BD-F80C-E1CC-EAA4-CC55664E12B3}"/>
          </ac:graphicFrameMkLst>
        </pc:graphicFrameChg>
      </pc:sldChg>
    </pc:docChg>
  </pc:docChgLst>
  <pc:docChgLst>
    <pc:chgData name="Avinash Tanwar" userId="S::avinash.tanwar@mphasis.com::d2a5e32c-bb6e-462a-9d70-9490debfdfb8" providerId="AD" clId="Web-{80DF42F0-3D73-8AAB-01A5-7AE34CAF5897}"/>
    <pc:docChg chg="addSld modSld">
      <pc:chgData name="Avinash Tanwar" userId="S::avinash.tanwar@mphasis.com::d2a5e32c-bb6e-462a-9d70-9490debfdfb8" providerId="AD" clId="Web-{80DF42F0-3D73-8AAB-01A5-7AE34CAF5897}" dt="2026-03-31T11:28:36.634" v="316" actId="20577"/>
      <pc:docMkLst>
        <pc:docMk/>
      </pc:docMkLst>
      <pc:sldChg chg="modSp add">
        <pc:chgData name="Avinash Tanwar" userId="S::avinash.tanwar@mphasis.com::d2a5e32c-bb6e-462a-9d70-9490debfdfb8" providerId="AD" clId="Web-{80DF42F0-3D73-8AAB-01A5-7AE34CAF5897}" dt="2026-03-31T11:28:11.726" v="305" actId="20577"/>
        <pc:sldMkLst>
          <pc:docMk/>
          <pc:sldMk cId="2778685660" sldId="261"/>
        </pc:sldMkLst>
        <pc:spChg chg="mod">
          <ac:chgData name="Avinash Tanwar" userId="S::avinash.tanwar@mphasis.com::d2a5e32c-bb6e-462a-9d70-9490debfdfb8" providerId="AD" clId="Web-{80DF42F0-3D73-8AAB-01A5-7AE34CAF5897}" dt="2026-03-31T11:28:11.726" v="305" actId="20577"/>
          <ac:spMkLst>
            <pc:docMk/>
            <pc:sldMk cId="2778685660" sldId="261"/>
            <ac:spMk id="2" creationId="{DE5BBBE7-16E5-1F6E-93BF-FEA4AD68F1F8}"/>
          </ac:spMkLst>
        </pc:spChg>
      </pc:sldChg>
      <pc:sldChg chg="modSp">
        <pc:chgData name="Avinash Tanwar" userId="S::avinash.tanwar@mphasis.com::d2a5e32c-bb6e-462a-9d70-9490debfdfb8" providerId="AD" clId="Web-{80DF42F0-3D73-8AAB-01A5-7AE34CAF5897}" dt="2026-03-31T11:18:27.094" v="32" actId="20577"/>
        <pc:sldMkLst>
          <pc:docMk/>
          <pc:sldMk cId="4059062450" sldId="262"/>
        </pc:sldMkLst>
        <pc:spChg chg="mod">
          <ac:chgData name="Avinash Tanwar" userId="S::avinash.tanwar@mphasis.com::d2a5e32c-bb6e-462a-9d70-9490debfdfb8" providerId="AD" clId="Web-{80DF42F0-3D73-8AAB-01A5-7AE34CAF5897}" dt="2026-03-31T11:18:27.094" v="32" actId="20577"/>
          <ac:spMkLst>
            <pc:docMk/>
            <pc:sldMk cId="4059062450" sldId="262"/>
            <ac:spMk id="2" creationId="{50BBAF38-AF41-ADC6-0A5A-D67D9EA80076}"/>
          </ac:spMkLst>
        </pc:spChg>
      </pc:sldChg>
      <pc:sldChg chg="modSp add">
        <pc:chgData name="Avinash Tanwar" userId="S::avinash.tanwar@mphasis.com::d2a5e32c-bb6e-462a-9d70-9490debfdfb8" providerId="AD" clId="Web-{80DF42F0-3D73-8AAB-01A5-7AE34CAF5897}" dt="2026-03-31T11:28:24.274" v="308" actId="20577"/>
        <pc:sldMkLst>
          <pc:docMk/>
          <pc:sldMk cId="3877562134" sldId="264"/>
        </pc:sldMkLst>
        <pc:spChg chg="mod">
          <ac:chgData name="Avinash Tanwar" userId="S::avinash.tanwar@mphasis.com::d2a5e32c-bb6e-462a-9d70-9490debfdfb8" providerId="AD" clId="Web-{80DF42F0-3D73-8AAB-01A5-7AE34CAF5897}" dt="2026-03-31T11:28:24.274" v="308" actId="20577"/>
          <ac:spMkLst>
            <pc:docMk/>
            <pc:sldMk cId="3877562134" sldId="264"/>
            <ac:spMk id="2" creationId="{97863421-089E-B67A-0F28-336EC740178B}"/>
          </ac:spMkLst>
        </pc:spChg>
        <pc:spChg chg="mod">
          <ac:chgData name="Avinash Tanwar" userId="S::avinash.tanwar@mphasis.com::d2a5e32c-bb6e-462a-9d70-9490debfdfb8" providerId="AD" clId="Web-{80DF42F0-3D73-8AAB-01A5-7AE34CAF5897}" dt="2026-03-31T11:21:45.491" v="73" actId="20577"/>
          <ac:spMkLst>
            <pc:docMk/>
            <pc:sldMk cId="3877562134" sldId="264"/>
            <ac:spMk id="32" creationId="{7D9F00AA-B82B-392D-F0D4-348A049C2DF3}"/>
          </ac:spMkLst>
        </pc:spChg>
      </pc:sldChg>
      <pc:sldChg chg="modSp add">
        <pc:chgData name="Avinash Tanwar" userId="S::avinash.tanwar@mphasis.com::d2a5e32c-bb6e-462a-9d70-9490debfdfb8" providerId="AD" clId="Web-{80DF42F0-3D73-8AAB-01A5-7AE34CAF5897}" dt="2026-03-31T11:28:29.524" v="312" actId="20577"/>
        <pc:sldMkLst>
          <pc:docMk/>
          <pc:sldMk cId="4104331029" sldId="265"/>
        </pc:sldMkLst>
        <pc:spChg chg="mod">
          <ac:chgData name="Avinash Tanwar" userId="S::avinash.tanwar@mphasis.com::d2a5e32c-bb6e-462a-9d70-9490debfdfb8" providerId="AD" clId="Web-{80DF42F0-3D73-8AAB-01A5-7AE34CAF5897}" dt="2026-03-31T11:28:29.524" v="312" actId="20577"/>
          <ac:spMkLst>
            <pc:docMk/>
            <pc:sldMk cId="4104331029" sldId="265"/>
            <ac:spMk id="2" creationId="{7489E497-F02D-6921-4201-D66C2B29A4FC}"/>
          </ac:spMkLst>
        </pc:spChg>
      </pc:sldChg>
      <pc:sldChg chg="modSp add">
        <pc:chgData name="Avinash Tanwar" userId="S::avinash.tanwar@mphasis.com::d2a5e32c-bb6e-462a-9d70-9490debfdfb8" providerId="AD" clId="Web-{80DF42F0-3D73-8AAB-01A5-7AE34CAF5897}" dt="2026-03-31T11:28:36.634" v="316" actId="20577"/>
        <pc:sldMkLst>
          <pc:docMk/>
          <pc:sldMk cId="4157827899" sldId="266"/>
        </pc:sldMkLst>
        <pc:spChg chg="mod">
          <ac:chgData name="Avinash Tanwar" userId="S::avinash.tanwar@mphasis.com::d2a5e32c-bb6e-462a-9d70-9490debfdfb8" providerId="AD" clId="Web-{80DF42F0-3D73-8AAB-01A5-7AE34CAF5897}" dt="2026-03-31T11:28:36.634" v="316" actId="20577"/>
          <ac:spMkLst>
            <pc:docMk/>
            <pc:sldMk cId="4157827899" sldId="266"/>
            <ac:spMk id="2" creationId="{25C456EB-B09F-4E99-E55D-8EB4D6EC1BB3}"/>
          </ac:spMkLst>
        </pc:spChg>
      </pc:sldChg>
      <pc:sldChg chg="modSp add">
        <pc:chgData name="Avinash Tanwar" userId="S::avinash.tanwar@mphasis.com::d2a5e32c-bb6e-462a-9d70-9490debfdfb8" providerId="AD" clId="Web-{80DF42F0-3D73-8AAB-01A5-7AE34CAF5897}" dt="2026-03-31T11:27:27.786" v="290"/>
        <pc:sldMkLst>
          <pc:docMk/>
          <pc:sldMk cId="2838997323" sldId="267"/>
        </pc:sldMkLst>
        <pc:spChg chg="mod">
          <ac:chgData name="Avinash Tanwar" userId="S::avinash.tanwar@mphasis.com::d2a5e32c-bb6e-462a-9d70-9490debfdfb8" providerId="AD" clId="Web-{80DF42F0-3D73-8AAB-01A5-7AE34CAF5897}" dt="2026-03-31T11:27:15.973" v="260" actId="20577"/>
          <ac:spMkLst>
            <pc:docMk/>
            <pc:sldMk cId="2838997323" sldId="267"/>
            <ac:spMk id="2" creationId="{F91AFC14-66DD-CE63-FFE3-6DD68C7200D0}"/>
          </ac:spMkLst>
        </pc:spChg>
        <pc:graphicFrameChg chg="mod modGraphic">
          <ac:chgData name="Avinash Tanwar" userId="S::avinash.tanwar@mphasis.com::d2a5e32c-bb6e-462a-9d70-9490debfdfb8" providerId="AD" clId="Web-{80DF42F0-3D73-8AAB-01A5-7AE34CAF5897}" dt="2026-03-31T11:27:27.786" v="290"/>
          <ac:graphicFrameMkLst>
            <pc:docMk/>
            <pc:sldMk cId="2838997323" sldId="267"/>
            <ac:graphicFrameMk id="6" creationId="{40AAA7A3-88DE-A73D-76B4-11EA3DE564F8}"/>
          </ac:graphicFrameMkLst>
        </pc:graphicFrameChg>
      </pc:sldChg>
      <pc:sldChg chg="modSp add">
        <pc:chgData name="Avinash Tanwar" userId="S::avinash.tanwar@mphasis.com::d2a5e32c-bb6e-462a-9d70-9490debfdfb8" providerId="AD" clId="Web-{80DF42F0-3D73-8AAB-01A5-7AE34CAF5897}" dt="2026-03-31T11:28:06.164" v="302" actId="20577"/>
        <pc:sldMkLst>
          <pc:docMk/>
          <pc:sldMk cId="2010241251" sldId="268"/>
        </pc:sldMkLst>
        <pc:spChg chg="mod">
          <ac:chgData name="Avinash Tanwar" userId="S::avinash.tanwar@mphasis.com::d2a5e32c-bb6e-462a-9d70-9490debfdfb8" providerId="AD" clId="Web-{80DF42F0-3D73-8AAB-01A5-7AE34CAF5897}" dt="2026-03-31T11:28:06.164" v="302" actId="20577"/>
          <ac:spMkLst>
            <pc:docMk/>
            <pc:sldMk cId="2010241251" sldId="268"/>
            <ac:spMk id="2" creationId="{EB09C7E0-41CC-249F-2880-C94DB221C3E6}"/>
          </ac:spMkLst>
        </pc:spChg>
      </pc:sldChg>
      <pc:sldChg chg="modSp">
        <pc:chgData name="Avinash Tanwar" userId="S::avinash.tanwar@mphasis.com::d2a5e32c-bb6e-462a-9d70-9490debfdfb8" providerId="AD" clId="Web-{80DF42F0-3D73-8AAB-01A5-7AE34CAF5897}" dt="2026-03-31T11:25:25.011" v="244"/>
        <pc:sldMkLst>
          <pc:docMk/>
          <pc:sldMk cId="3851768504" sldId="2147483644"/>
        </pc:sldMkLst>
        <pc:graphicFrameChg chg="mod modGraphic">
          <ac:chgData name="Avinash Tanwar" userId="S::avinash.tanwar@mphasis.com::d2a5e32c-bb6e-462a-9d70-9490debfdfb8" providerId="AD" clId="Web-{80DF42F0-3D73-8AAB-01A5-7AE34CAF5897}" dt="2026-03-31T11:25:25.011" v="244"/>
          <ac:graphicFrameMkLst>
            <pc:docMk/>
            <pc:sldMk cId="3851768504" sldId="2147483644"/>
            <ac:graphicFrameMk id="6" creationId="{D29A173C-4B49-4244-A905-E73548E2D2BB}"/>
          </ac:graphicFrameMkLst>
        </pc:graphicFrameChg>
      </pc:sldChg>
    </pc:docChg>
  </pc:docChgLst>
  <pc:docChgLst>
    <pc:chgData name="Vivek Sharma" userId="S::vivek.sharma@mphasis.com::4a44bb68-4f8d-47ec-8670-8be48b241ecc" providerId="AD" clId="Web-{512D7100-1187-2090-4788-8BD50980FE25}"/>
    <pc:docChg chg="modSld">
      <pc:chgData name="Vivek Sharma" userId="S::vivek.sharma@mphasis.com::4a44bb68-4f8d-47ec-8670-8be48b241ecc" providerId="AD" clId="Web-{512D7100-1187-2090-4788-8BD50980FE25}" dt="2026-04-01T14:27:48.942" v="3"/>
      <pc:docMkLst>
        <pc:docMk/>
      </pc:docMkLst>
      <pc:sldChg chg="modSp">
        <pc:chgData name="Vivek Sharma" userId="S::vivek.sharma@mphasis.com::4a44bb68-4f8d-47ec-8670-8be48b241ecc" providerId="AD" clId="Web-{512D7100-1187-2090-4788-8BD50980FE25}" dt="2026-04-01T14:27:48.942" v="3"/>
        <pc:sldMkLst>
          <pc:docMk/>
          <pc:sldMk cId="881589214" sldId="2147483647"/>
        </pc:sldMkLst>
        <pc:graphicFrameChg chg="mod modGraphic">
          <ac:chgData name="Vivek Sharma" userId="S::vivek.sharma@mphasis.com::4a44bb68-4f8d-47ec-8670-8be48b241ecc" providerId="AD" clId="Web-{512D7100-1187-2090-4788-8BD50980FE25}" dt="2026-04-01T14:27:48.942" v="3"/>
          <ac:graphicFrameMkLst>
            <pc:docMk/>
            <pc:sldMk cId="881589214" sldId="2147483647"/>
            <ac:graphicFrameMk id="6" creationId="{40AAA7A3-88DE-A73D-76B4-11EA3DE564F8}"/>
          </ac:graphicFrameMkLst>
        </pc:graphicFrameChg>
      </pc:sldChg>
    </pc:docChg>
  </pc:docChgLst>
  <pc:docChgLst>
    <pc:chgData name="Vivek Sharma" userId="S::vivek.sharma@mphasis.com::4a44bb68-4f8d-47ec-8670-8be48b241ecc" providerId="AD" clId="Web-{3D849472-BCC3-00E4-D413-A253FFE99562}"/>
    <pc:docChg chg="modSld">
      <pc:chgData name="Vivek Sharma" userId="S::vivek.sharma@mphasis.com::4a44bb68-4f8d-47ec-8670-8be48b241ecc" providerId="AD" clId="Web-{3D849472-BCC3-00E4-D413-A253FFE99562}" dt="2026-03-31T11:18:40.623" v="254"/>
      <pc:docMkLst>
        <pc:docMk/>
      </pc:docMkLst>
      <pc:sldChg chg="modSp">
        <pc:chgData name="Vivek Sharma" userId="S::vivek.sharma@mphasis.com::4a44bb68-4f8d-47ec-8670-8be48b241ecc" providerId="AD" clId="Web-{3D849472-BCC3-00E4-D413-A253FFE99562}" dt="2026-03-31T11:18:40.623" v="254"/>
        <pc:sldMkLst>
          <pc:docMk/>
          <pc:sldMk cId="3851768504" sldId="2147483644"/>
        </pc:sldMkLst>
        <pc:graphicFrameChg chg="mod modGraphic">
          <ac:chgData name="Vivek Sharma" userId="S::vivek.sharma@mphasis.com::4a44bb68-4f8d-47ec-8670-8be48b241ecc" providerId="AD" clId="Web-{3D849472-BCC3-00E4-D413-A253FFE99562}" dt="2026-03-31T11:18:40.623" v="254"/>
          <ac:graphicFrameMkLst>
            <pc:docMk/>
            <pc:sldMk cId="3851768504" sldId="2147483644"/>
            <ac:graphicFrameMk id="6" creationId="{D29A173C-4B49-4244-A905-E73548E2D2B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B8E911-CCD8-BB3D-C65A-5EC2F667E6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67949AB-1963-7060-213A-395D199BA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E86AAF-325D-44BB-941C-11318DAC01F6}" type="datetimeFigureOut">
              <a:rPr lang="en-IN" smtClean="0"/>
              <a:t>01-04-2026</a:t>
            </a:fld>
            <a:endParaRPr lang="en-IN"/>
          </a:p>
        </p:txBody>
      </p:sp>
      <p:sp>
        <p:nvSpPr>
          <p:cNvPr id="4" name="Footer Placeholder 3">
            <a:extLst>
              <a:ext uri="{FF2B5EF4-FFF2-40B4-BE49-F238E27FC236}">
                <a16:creationId xmlns:a16="http://schemas.microsoft.com/office/drawing/2014/main" id="{72CAC586-BFD1-3452-AF44-5A4E9D0852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1AFB84D-9C57-D8AF-0063-22CE8802E3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74CC9-7D4D-4A82-9F7C-C75654570F1F}" type="slidenum">
              <a:rPr lang="en-IN" smtClean="0"/>
              <a:t>‹#›</a:t>
            </a:fld>
            <a:endParaRPr lang="en-IN"/>
          </a:p>
        </p:txBody>
      </p:sp>
    </p:spTree>
    <p:extLst>
      <p:ext uri="{BB962C8B-B14F-4D97-AF65-F5344CB8AC3E}">
        <p14:creationId xmlns:p14="http://schemas.microsoft.com/office/powerpoint/2010/main" val="161170239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4EEF8-A9EB-4ABD-8D0E-BAFDDE90EE41}"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99EB0-6DB4-4210-AC99-5B29B077CB13}" type="slidenum">
              <a:rPr lang="en-IN" smtClean="0"/>
              <a:t>‹#›</a:t>
            </a:fld>
            <a:endParaRPr lang="en-IN"/>
          </a:p>
        </p:txBody>
      </p:sp>
    </p:spTree>
    <p:extLst>
      <p:ext uri="{BB962C8B-B14F-4D97-AF65-F5344CB8AC3E}">
        <p14:creationId xmlns:p14="http://schemas.microsoft.com/office/powerpoint/2010/main" val="328474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a:xfrm>
            <a:off x="280416" y="208502"/>
            <a:ext cx="10633117" cy="400110"/>
          </a:xfrm>
        </p:spPr>
        <p:txBody>
          <a:bodyPr wrap="square" lIns="0" tIns="0" rIns="0" bIns="0" anchor="t">
            <a:spAutoFit/>
          </a:bodyPr>
          <a:lstStyle>
            <a:lvl1pPr>
              <a:lnSpc>
                <a:spcPct val="100000"/>
              </a:lnSpc>
              <a:defRPr sz="2600">
                <a:solidFill>
                  <a:schemeClr val="bg2"/>
                </a:solidFill>
              </a:defRPr>
            </a:lvl1pPr>
          </a:lstStyle>
          <a:p>
            <a:r>
              <a:rPr lang="en-US"/>
              <a:t>Click to edit Master title style</a:t>
            </a:r>
            <a:endParaRPr lang="en-IN"/>
          </a:p>
        </p:txBody>
      </p:sp>
      <p:pic>
        <p:nvPicPr>
          <p:cNvPr id="6" name="Picture 5">
            <a:extLst>
              <a:ext uri="{FF2B5EF4-FFF2-40B4-BE49-F238E27FC236}">
                <a16:creationId xmlns:a16="http://schemas.microsoft.com/office/drawing/2014/main" id="{1DE024FD-435F-39FD-9EA4-B9E40BCF2F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033980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nly Mphasi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E84F472-4640-E32E-1847-EC5C5439D795}"/>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a:xfrm>
            <a:off x="1524" y="0"/>
            <a:ext cx="12188952"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hasCustomPrompt="1"/>
          </p:nvPr>
        </p:nvSpPr>
        <p:spPr>
          <a:xfrm>
            <a:off x="498744" y="2634717"/>
            <a:ext cx="6968856" cy="1421928"/>
          </a:xfrm>
        </p:spPr>
        <p:txBody>
          <a:bodyPr wrap="square" anchor="b">
            <a:spAutoFit/>
          </a:bodyPr>
          <a:lstStyle>
            <a:lvl1pPr algn="l">
              <a:defRPr sz="4800">
                <a:solidFill>
                  <a:schemeClr val="bg1"/>
                </a:solidFill>
                <a:latin typeface="+mj-lt"/>
              </a:defRPr>
            </a:lvl1pPr>
          </a:lstStyle>
          <a:p>
            <a:r>
              <a:rPr lang="en-US"/>
              <a:t>Click to edit Master title </a:t>
            </a:r>
            <a:br>
              <a:rPr lang="en-US"/>
            </a:br>
            <a:r>
              <a:rPr lang="en-US"/>
              <a:t>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4" y="4128192"/>
            <a:ext cx="6968856" cy="480131"/>
          </a:xfrm>
        </p:spPr>
        <p:txBody>
          <a:bodyPr>
            <a:spAutoFit/>
          </a:bodyPr>
          <a:lstStyle>
            <a:lvl1pPr marL="0" indent="0" algn="l">
              <a:buNone/>
              <a:defRPr sz="2800" b="1">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6" name="Picture 5">
            <a:extLst>
              <a:ext uri="{FF2B5EF4-FFF2-40B4-BE49-F238E27FC236}">
                <a16:creationId xmlns:a16="http://schemas.microsoft.com/office/drawing/2014/main" id="{25A12056-1CA3-12BC-1D19-8ACDA4C1B6F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98744" y="1268782"/>
            <a:ext cx="2334780" cy="776357"/>
          </a:xfrm>
          <a:prstGeom prst="rect">
            <a:avLst/>
          </a:prstGeom>
        </p:spPr>
      </p:pic>
      <p:pic>
        <p:nvPicPr>
          <p:cNvPr id="11" name="Picture 10">
            <a:extLst>
              <a:ext uri="{FF2B5EF4-FFF2-40B4-BE49-F238E27FC236}">
                <a16:creationId xmlns:a16="http://schemas.microsoft.com/office/drawing/2014/main" id="{C336FF60-B6F6-57B7-4DC4-F7F793EEE210}"/>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7656094" y="1561441"/>
            <a:ext cx="3744000" cy="3735119"/>
          </a:xfrm>
          <a:prstGeom prst="rect">
            <a:avLst/>
          </a:prstGeom>
        </p:spPr>
      </p:pic>
      <p:pic>
        <p:nvPicPr>
          <p:cNvPr id="15" name="Picture 14">
            <a:extLst>
              <a:ext uri="{FF2B5EF4-FFF2-40B4-BE49-F238E27FC236}">
                <a16:creationId xmlns:a16="http://schemas.microsoft.com/office/drawing/2014/main" id="{44D4E2CC-2B40-8D6D-93B3-DFC25454CF07}"/>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10180884" y="2614162"/>
            <a:ext cx="2011116" cy="1980000"/>
          </a:xfrm>
          <a:prstGeom prst="rect">
            <a:avLst/>
          </a:prstGeom>
        </p:spPr>
      </p:pic>
    </p:spTree>
    <p:extLst>
      <p:ext uri="{BB962C8B-B14F-4D97-AF65-F5344CB8AC3E}">
        <p14:creationId xmlns:p14="http://schemas.microsoft.com/office/powerpoint/2010/main" val="483365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BC1A6F"/>
                </a:solidFill>
                <a:effectLst/>
                <a:uLnTx/>
                <a:uFillTx/>
                <a:latin typeface="Calibri" panose="020F0502020204030204"/>
                <a:ea typeface="+mn-ea"/>
                <a:cs typeface="+mn-cs"/>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lvl="0" indent="0" algn="just" defTabSz="1218529" rtl="0" eaLnBrk="1" fontAlgn="base" latinLnBrk="0" hangingPunct="1">
              <a:lnSpc>
                <a:spcPct val="100000"/>
              </a:lnSpc>
              <a:spcBef>
                <a:spcPct val="20000"/>
              </a:spcBef>
              <a:spcAft>
                <a:spcPct val="0"/>
              </a:spcAft>
              <a:buClrTx/>
              <a:buSzTx/>
              <a:buFont typeface="Arial" charset="0"/>
              <a:buNone/>
              <a:tabLst/>
              <a:defRPr/>
            </a:pPr>
            <a:r>
              <a:rPr kumimoji="0" lang="en-US" sz="1400" b="1" i="0" u="none" strike="noStrike" kern="1200" cap="none" spc="0" normalizeH="0" baseline="0" noProof="0">
                <a:ln>
                  <a:noFill/>
                </a:ln>
                <a:solidFill>
                  <a:srgbClr val="5A5A5A"/>
                </a:solidFill>
                <a:effectLst/>
                <a:uLnTx/>
                <a:uFillTx/>
                <a:latin typeface="Calibri" panose="020F0502020204030204" pitchFamily="34" charset="0"/>
                <a:ea typeface="+mn-ea"/>
                <a:cs typeface="Calibri" panose="020F0502020204030204" pitchFamily="34" charset="0"/>
              </a:rPr>
              <a:t>Important Confidentiality Notice</a:t>
            </a:r>
          </a:p>
          <a:p>
            <a:pPr marL="0" marR="0" lvl="0" indent="0" algn="just" defTabSz="914400" rtl="0" eaLnBrk="1" fontAlgn="auto" latinLnBrk="0" hangingPunct="1">
              <a:lnSpc>
                <a:spcPct val="100000"/>
              </a:lnSpc>
              <a:spcBef>
                <a:spcPct val="20000"/>
              </a:spcBef>
              <a:spcAft>
                <a:spcPts val="0"/>
              </a:spcAft>
              <a:buClrTx/>
              <a:buSzTx/>
              <a:buFont typeface="Arial" charset="0"/>
              <a:buNone/>
              <a:tabLst/>
              <a:defRPr/>
            </a:pPr>
            <a:r>
              <a:rPr kumimoji="0" lang="en-US" sz="1000" b="0" i="0" u="none" strike="noStrike" kern="1200" cap="none" spc="0" normalizeH="0" baseline="0" noProof="0">
                <a:ln>
                  <a:noFill/>
                </a:ln>
                <a:solidFill>
                  <a:srgbClr val="5A5A5A"/>
                </a:solidFill>
                <a:effectLst/>
                <a:uLnTx/>
                <a:uFillTx/>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7134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11548533" y="6476626"/>
            <a:ext cx="448395" cy="367698"/>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userDrawn="1"/>
        </p:nvSpPr>
        <p:spPr>
          <a:xfrm>
            <a:off x="292608" y="6625852"/>
            <a:ext cx="3207974"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 Mphasis 2025  Proprietary and confidential information</a:t>
            </a:r>
            <a:endParaRPr lang="en-IN" sz="1000">
              <a:latin typeface="+mn-lt"/>
            </a:endParaRPr>
          </a:p>
        </p:txBody>
      </p:sp>
      <p:sp>
        <p:nvSpPr>
          <p:cNvPr id="5" name="Footer Placeholder 4">
            <a:extLst>
              <a:ext uri="{FF2B5EF4-FFF2-40B4-BE49-F238E27FC236}">
                <a16:creationId xmlns:a16="http://schemas.microsoft.com/office/drawing/2014/main" id="{30D85B22-4AB0-59BC-D67E-01DB098B8FB7}"/>
              </a:ext>
            </a:extLst>
          </p:cNvPr>
          <p:cNvSpPr txBox="1">
            <a:spLocks/>
          </p:cNvSpPr>
          <p:nvPr userDrawn="1"/>
        </p:nvSpPr>
        <p:spPr>
          <a:xfrm>
            <a:off x="5593889" y="6625852"/>
            <a:ext cx="1004223"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3C4C312-C9D8-434F-B375-261D124326DB}" type="datetime1">
              <a:rPr lang="en-IN" sz="1000" smtClean="0">
                <a:latin typeface="+mn-lt"/>
              </a:rPr>
              <a:pPr algn="ctr"/>
              <a:t>01-04-2026</a:t>
            </a:fld>
            <a:endParaRPr lang="en-IN" sz="1000">
              <a:latin typeface="+mn-lt"/>
            </a:endParaRPr>
          </a:p>
        </p:txBody>
      </p:sp>
      <p:sp>
        <p:nvSpPr>
          <p:cNvPr id="10" name="TextBox 9">
            <a:extLst>
              <a:ext uri="{FF2B5EF4-FFF2-40B4-BE49-F238E27FC236}">
                <a16:creationId xmlns:a16="http://schemas.microsoft.com/office/drawing/2014/main" id="{AB3C4B5D-DBD4-6BB5-0873-20A1C577D40D}"/>
              </a:ext>
            </a:extLst>
          </p:cNvPr>
          <p:cNvSpPr txBox="1"/>
          <p:nvPr userDrawn="1"/>
        </p:nvSpPr>
        <p:spPr>
          <a:xfrm>
            <a:off x="10597911" y="6625852"/>
            <a:ext cx="733425" cy="153888"/>
          </a:xfrm>
          <a:prstGeom prst="rect">
            <a:avLst/>
          </a:prstGeom>
          <a:noFill/>
        </p:spPr>
        <p:txBody>
          <a:bodyPr wrap="square" lIns="0" tIns="0" rIns="0" bIns="0" anchor="ctr">
            <a:spAutoFit/>
          </a:bodyPr>
          <a:lstStyle/>
          <a:p>
            <a:pPr algn="r"/>
            <a:fld id="{168B8272-985F-49F0-9308-1DD0A25D397C}" type="slidenum">
              <a:rPr lang="en-IN" sz="1000" smtClean="0">
                <a:latin typeface="+mn-lt"/>
              </a:rPr>
              <a:pPr algn="r"/>
              <a:t>‹#›</a:t>
            </a:fld>
            <a:endParaRPr lang="en-IN" sz="1000">
              <a:latin typeface="+mn-lt"/>
            </a:endParaRPr>
          </a:p>
        </p:txBody>
      </p:sp>
      <p:pic>
        <p:nvPicPr>
          <p:cNvPr id="4" name="Picture 3">
            <a:extLst>
              <a:ext uri="{FF2B5EF4-FFF2-40B4-BE49-F238E27FC236}">
                <a16:creationId xmlns:a16="http://schemas.microsoft.com/office/drawing/2014/main" id="{AF2BF047-EEFD-C7DF-DAD9-55A4CA959E9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937941435"/>
      </p:ext>
    </p:extLst>
  </p:cSld>
  <p:clrMap bg1="lt1" tx1="dk1" bg2="lt2" tx2="dk2" accent1="accent1" accent2="accent2" accent3="accent3" accent4="accent4" accent5="accent5" accent6="accent6" hlink="hlink" folHlink="folHlink"/>
  <p:sldLayoutIdLst>
    <p:sldLayoutId id="2147484864" r:id="rId1"/>
    <p:sldLayoutId id="2147484838" r:id="rId2"/>
    <p:sldLayoutId id="2147484874" r:id="rId3"/>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AF38-AF41-ADC6-0A5A-D67D9EA80076}"/>
              </a:ext>
            </a:extLst>
          </p:cNvPr>
          <p:cNvSpPr>
            <a:spLocks noGrp="1"/>
          </p:cNvSpPr>
          <p:nvPr>
            <p:ph type="ctrTitle"/>
          </p:nvPr>
        </p:nvSpPr>
        <p:spPr>
          <a:xfrm>
            <a:off x="498744" y="2386863"/>
            <a:ext cx="6968856" cy="2086725"/>
          </a:xfrm>
        </p:spPr>
        <p:txBody>
          <a:bodyPr/>
          <a:lstStyle/>
          <a:p>
            <a:r>
              <a:rPr lang="en-US"/>
              <a:t>Hotel management system                  and</a:t>
            </a:r>
            <a:br>
              <a:rPr lang="en-US"/>
            </a:br>
            <a:r>
              <a:rPr lang="en-US"/>
              <a:t>Mock Api using Playwright</a:t>
            </a:r>
          </a:p>
        </p:txBody>
      </p:sp>
    </p:spTree>
    <p:extLst>
      <p:ext uri="{BB962C8B-B14F-4D97-AF65-F5344CB8AC3E}">
        <p14:creationId xmlns:p14="http://schemas.microsoft.com/office/powerpoint/2010/main" val="4059062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954A-EBBE-D05A-DF8E-21DA4FD5A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5FCF4-7C88-292D-34C6-995BF273DB57}"/>
              </a:ext>
            </a:extLst>
          </p:cNvPr>
          <p:cNvSpPr>
            <a:spLocks noGrp="1"/>
          </p:cNvSpPr>
          <p:nvPr>
            <p:ph type="title"/>
          </p:nvPr>
        </p:nvSpPr>
        <p:spPr>
          <a:xfrm>
            <a:off x="280417" y="178684"/>
            <a:ext cx="7407188" cy="369332"/>
          </a:xfrm>
        </p:spPr>
        <p:txBody>
          <a:bodyPr anchor="ctr">
            <a:normAutofit fontScale="90000"/>
          </a:bodyPr>
          <a:lstStyle/>
          <a:p>
            <a:r>
              <a:rPr lang="en-US">
                <a:latin typeface="Aptos"/>
              </a:rPr>
              <a:t>Team Introduction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4CDE83-B73B-E256-C66F-14EEF95E1A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4CDE83-B73B-E256-C66F-14EEF95E1A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D29A173C-4B49-4244-A905-E73548E2D2BB}"/>
              </a:ext>
            </a:extLst>
          </p:cNvPr>
          <p:cNvGraphicFramePr>
            <a:graphicFrameLocks noGrp="1"/>
          </p:cNvGraphicFramePr>
          <p:nvPr>
            <p:extLst>
              <p:ext uri="{D42A27DB-BD31-4B8C-83A1-F6EECF244321}">
                <p14:modId xmlns:p14="http://schemas.microsoft.com/office/powerpoint/2010/main" val="1739282649"/>
              </p:ext>
            </p:extLst>
          </p:nvPr>
        </p:nvGraphicFramePr>
        <p:xfrm>
          <a:off x="1652270" y="1171575"/>
          <a:ext cx="8815550" cy="5206885"/>
        </p:xfrm>
        <a:graphic>
          <a:graphicData uri="http://schemas.openxmlformats.org/drawingml/2006/table">
            <a:tbl>
              <a:tblPr firstRow="1" bandRow="1">
                <a:tableStyleId>{5C22544A-7EE6-4342-B048-85BDC9FD1C3A}</a:tableStyleId>
              </a:tblPr>
              <a:tblGrid>
                <a:gridCol w="3959876">
                  <a:extLst>
                    <a:ext uri="{9D8B030D-6E8A-4147-A177-3AD203B41FA5}">
                      <a16:colId xmlns:a16="http://schemas.microsoft.com/office/drawing/2014/main" val="3420260581"/>
                    </a:ext>
                  </a:extLst>
                </a:gridCol>
                <a:gridCol w="4855674">
                  <a:extLst>
                    <a:ext uri="{9D8B030D-6E8A-4147-A177-3AD203B41FA5}">
                      <a16:colId xmlns:a16="http://schemas.microsoft.com/office/drawing/2014/main" val="910197492"/>
                    </a:ext>
                  </a:extLst>
                </a:gridCol>
              </a:tblGrid>
              <a:tr h="705041">
                <a:tc>
                  <a:txBody>
                    <a:bodyPr/>
                    <a:lstStyle/>
                    <a:p>
                      <a:pPr algn="ctr"/>
                      <a:r>
                        <a:rPr lang="en-US" sz="2000"/>
                        <a:t>Areas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584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Team Name:</a:t>
                      </a:r>
                    </a:p>
                  </a:txBody>
                  <a:tcPr/>
                </a:tc>
                <a:tc>
                  <a:txBody>
                    <a:bodyPr/>
                    <a:lstStyle/>
                    <a:p>
                      <a:r>
                        <a:rPr lang="en-US"/>
                        <a:t>Team A</a:t>
                      </a:r>
                    </a:p>
                  </a:txBody>
                  <a:tcPr/>
                </a:tc>
                <a:extLst>
                  <a:ext uri="{0D108BD9-81ED-4DB2-BD59-A6C34878D82A}">
                    <a16:rowId xmlns:a16="http://schemas.microsoft.com/office/drawing/2014/main" val="2694735506"/>
                  </a:ext>
                </a:extLst>
              </a:tr>
              <a:tr h="564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Batch / Area of Training:</a:t>
                      </a:r>
                    </a:p>
                  </a:txBody>
                  <a:tcPr/>
                </a:tc>
                <a:tc>
                  <a:txBody>
                    <a:bodyPr/>
                    <a:lstStyle/>
                    <a:p>
                      <a:r>
                        <a:rPr lang="en-US"/>
                        <a:t>Automation Testing</a:t>
                      </a:r>
                    </a:p>
                  </a:txBody>
                  <a:tcPr/>
                </a:tc>
                <a:extLst>
                  <a:ext uri="{0D108BD9-81ED-4DB2-BD59-A6C34878D82A}">
                    <a16:rowId xmlns:a16="http://schemas.microsoft.com/office/drawing/2014/main" val="2766325250"/>
                  </a:ext>
                </a:extLst>
              </a:tr>
              <a:tr h="5841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Internship Start Date:</a:t>
                      </a:r>
                    </a:p>
                  </a:txBody>
                  <a:tcPr/>
                </a:tc>
                <a:tc>
                  <a:txBody>
                    <a:bodyPr/>
                    <a:lstStyle/>
                    <a:p>
                      <a:r>
                        <a:rPr lang="en-US"/>
                        <a:t>13-Jan</a:t>
                      </a:r>
                    </a:p>
                  </a:txBody>
                  <a:tcPr/>
                </a:tc>
                <a:extLst>
                  <a:ext uri="{0D108BD9-81ED-4DB2-BD59-A6C34878D82A}">
                    <a16:rowId xmlns:a16="http://schemas.microsoft.com/office/drawing/2014/main" val="672518870"/>
                  </a:ext>
                </a:extLst>
              </a:tr>
              <a:tr h="4834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Internship Location</a:t>
                      </a:r>
                    </a:p>
                  </a:txBody>
                  <a:tcPr/>
                </a:tc>
                <a:tc>
                  <a:txBody>
                    <a:bodyPr/>
                    <a:lstStyle/>
                    <a:p>
                      <a:r>
                        <a:rPr lang="en-US"/>
                        <a:t>Bangalore (GTP)</a:t>
                      </a:r>
                    </a:p>
                  </a:txBody>
                  <a:tcPr/>
                </a:tc>
                <a:extLst>
                  <a:ext uri="{0D108BD9-81ED-4DB2-BD59-A6C34878D82A}">
                    <a16:rowId xmlns:a16="http://schemas.microsoft.com/office/drawing/2014/main" val="2430104585"/>
                  </a:ext>
                </a:extLst>
              </a:tr>
              <a:tr h="19338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Team Members: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txBody>
                  <a:tcPr/>
                </a:tc>
                <a:tc>
                  <a:txBody>
                    <a:bodyPr/>
                    <a:lstStyle/>
                    <a:p>
                      <a:r>
                        <a:rPr lang="en-US" b="1"/>
                        <a:t>VIVEK SHARMA (2666820)</a:t>
                      </a:r>
                    </a:p>
                    <a:p>
                      <a:pPr lvl="0">
                        <a:buNone/>
                      </a:pPr>
                      <a:r>
                        <a:rPr lang="en-US" b="1"/>
                        <a:t>AARCHIE DHAWAN (2666873)</a:t>
                      </a:r>
                    </a:p>
                    <a:p>
                      <a:pPr lvl="0">
                        <a:buNone/>
                      </a:pPr>
                      <a:r>
                        <a:rPr lang="en-US" b="1"/>
                        <a:t>DHRUV (2667048)</a:t>
                      </a:r>
                    </a:p>
                    <a:p>
                      <a:pPr lvl="0">
                        <a:buNone/>
                      </a:pPr>
                      <a:r>
                        <a:rPr lang="en-US" b="1"/>
                        <a:t>SWARAJ BHOIR (2666991)</a:t>
                      </a:r>
                    </a:p>
                    <a:p>
                      <a:pPr lvl="0">
                        <a:buNone/>
                      </a:pPr>
                      <a:r>
                        <a:rPr lang="en-US" b="1"/>
                        <a:t>TALAKOLA </a:t>
                      </a:r>
                      <a:r>
                        <a:rPr lang="en-US" sz="1800" b="1" i="0" u="none" strike="noStrike" noProof="0">
                          <a:solidFill>
                            <a:srgbClr val="000000"/>
                          </a:solidFill>
                          <a:latin typeface="Calibri"/>
                          <a:ea typeface="Calibri"/>
                          <a:cs typeface="Calibri"/>
                        </a:rPr>
                        <a:t>ABHINAV (2666331)</a:t>
                      </a:r>
                    </a:p>
                    <a:p>
                      <a:pPr lvl="0">
                        <a:buNone/>
                      </a:pPr>
                      <a:r>
                        <a:rPr lang="en-US" sz="1800" b="1" i="0" u="none" strike="noStrike" noProof="0">
                          <a:solidFill>
                            <a:srgbClr val="000000"/>
                          </a:solidFill>
                          <a:latin typeface="Calibri"/>
                          <a:ea typeface="Calibri"/>
                          <a:cs typeface="Calibri"/>
                        </a:rPr>
                        <a:t>AVINASH TANWAR (2666584)</a:t>
                      </a:r>
                    </a:p>
                    <a:p>
                      <a:pPr lvl="0">
                        <a:buNone/>
                      </a:pPr>
                      <a:r>
                        <a:rPr lang="en-US" sz="1800" b="1" i="0" u="none" strike="noStrike" noProof="0">
                          <a:solidFill>
                            <a:srgbClr val="000000"/>
                          </a:solidFill>
                          <a:latin typeface="Calibri"/>
                          <a:ea typeface="Calibri"/>
                          <a:cs typeface="Calibri"/>
                        </a:rPr>
                        <a:t>AYUSH TIWARI (2666942)</a:t>
                      </a:r>
                    </a:p>
                    <a:p>
                      <a:pPr lvl="0">
                        <a:buNone/>
                      </a:pPr>
                      <a:r>
                        <a:rPr lang="en-US" sz="1800" b="1" i="0" u="none" strike="noStrike" noProof="0">
                          <a:solidFill>
                            <a:srgbClr val="000000"/>
                          </a:solidFill>
                          <a:latin typeface="Calibri"/>
                          <a:ea typeface="Calibri"/>
                          <a:cs typeface="Calibri"/>
                        </a:rPr>
                        <a:t>AADARSH RUPAM ARYA (2666349)</a:t>
                      </a:r>
                    </a:p>
                  </a:txBody>
                  <a:tcPr/>
                </a:tc>
                <a:extLst>
                  <a:ext uri="{0D108BD9-81ED-4DB2-BD59-A6C34878D82A}">
                    <a16:rowId xmlns:a16="http://schemas.microsoft.com/office/drawing/2014/main" val="4083918607"/>
                  </a:ext>
                </a:extLst>
              </a:tr>
            </a:tbl>
          </a:graphicData>
        </a:graphic>
      </p:graphicFrame>
    </p:spTree>
    <p:extLst>
      <p:ext uri="{BB962C8B-B14F-4D97-AF65-F5344CB8AC3E}">
        <p14:creationId xmlns:p14="http://schemas.microsoft.com/office/powerpoint/2010/main" val="385176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4B8E-226E-048B-2C14-8ECF09990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BBE7-16E5-1F6E-93BF-FEA4AD68F1F8}"/>
              </a:ext>
            </a:extLst>
          </p:cNvPr>
          <p:cNvSpPr>
            <a:spLocks noGrp="1"/>
          </p:cNvSpPr>
          <p:nvPr>
            <p:ph type="title"/>
          </p:nvPr>
        </p:nvSpPr>
        <p:spPr>
          <a:xfrm>
            <a:off x="280417" y="178684"/>
            <a:ext cx="7407188" cy="369332"/>
          </a:xfrm>
        </p:spPr>
        <p:txBody>
          <a:bodyPr anchor="ctr">
            <a:normAutofit fontScale="90000"/>
          </a:bodyPr>
          <a:lstStyle/>
          <a:p>
            <a:r>
              <a:rPr lang="en-US">
                <a:latin typeface="Aptos"/>
              </a:rPr>
              <a:t>Problem Statement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6398B3-6BF4-A7EF-D278-8B142193616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436398B3-6BF4-A7EF-D278-8B1421936160}"/>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C8BDAAFD-FE0C-ABDE-0DC4-5EA01E602537}"/>
              </a:ext>
            </a:extLst>
          </p:cNvPr>
          <p:cNvGraphicFramePr>
            <a:graphicFrameLocks noGrp="1"/>
          </p:cNvGraphicFramePr>
          <p:nvPr>
            <p:extLst>
              <p:ext uri="{D42A27DB-BD31-4B8C-83A1-F6EECF244321}">
                <p14:modId xmlns:p14="http://schemas.microsoft.com/office/powerpoint/2010/main" val="1777841624"/>
              </p:ext>
            </p:extLst>
          </p:nvPr>
        </p:nvGraphicFramePr>
        <p:xfrm>
          <a:off x="1890395" y="692785"/>
          <a:ext cx="8411210" cy="547243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4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problem are you trying to solve?</a:t>
                      </a:r>
                    </a:p>
                  </a:txBody>
                  <a:tcPr/>
                </a:tc>
                <a:tc>
                  <a:txBody>
                    <a:bodyPr/>
                    <a:lstStyle/>
                    <a:p>
                      <a:r>
                        <a:rPr lang="en-US"/>
                        <a:t>Solutions to the hospitality business management system</a:t>
                      </a:r>
                    </a:p>
                  </a:txBody>
                  <a:tcPr/>
                </a:tc>
                <a:extLst>
                  <a:ext uri="{0D108BD9-81ED-4DB2-BD59-A6C34878D82A}">
                    <a16:rowId xmlns:a16="http://schemas.microsoft.com/office/drawing/2014/main" val="2694735506"/>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define the identified business need and importance to business</a:t>
                      </a:r>
                    </a:p>
                  </a:txBody>
                  <a:tcPr/>
                </a:tc>
                <a:tc>
                  <a:txBody>
                    <a:bodyPr/>
                    <a:lstStyle/>
                    <a:p>
                      <a:endParaRPr lang="en-US"/>
                    </a:p>
                  </a:txBody>
                  <a:tcPr/>
                </a:tc>
                <a:extLst>
                  <a:ext uri="{0D108BD9-81ED-4DB2-BD59-A6C34878D82A}">
                    <a16:rowId xmlns:a16="http://schemas.microsoft.com/office/drawing/2014/main" val="276632525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Who is affected by this problem? What improvements are assumed to be brought by implementation?</a:t>
                      </a:r>
                    </a:p>
                  </a:txBody>
                  <a:tcPr/>
                </a:tc>
                <a:tc>
                  <a:txBody>
                    <a:bodyPr/>
                    <a:lstStyle/>
                    <a:p>
                      <a:r>
                        <a:rPr lang="en-US"/>
                        <a:t>The different BUs’ in the system from Hotel management like facility management, pantry management , accounts management and guest system</a:t>
                      </a:r>
                    </a:p>
                  </a:txBody>
                  <a:tcPr/>
                </a:tc>
                <a:extLst>
                  <a:ext uri="{0D108BD9-81ED-4DB2-BD59-A6C34878D82A}">
                    <a16:rowId xmlns:a16="http://schemas.microsoft.com/office/drawing/2014/main" val="67251887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made you choose this problem?</a:t>
                      </a:r>
                    </a:p>
                  </a:txBody>
                  <a:tcPr/>
                </a:tc>
                <a:tc>
                  <a:txBody>
                    <a:bodyPr/>
                    <a:lstStyle/>
                    <a:p>
                      <a:r>
                        <a:rPr lang="en-US"/>
                        <a:t>The complexity involved in the system , challenges in the integration , solutions of the Billing &amp; invoicing</a:t>
                      </a:r>
                    </a:p>
                  </a:txBody>
                  <a:tcPr/>
                </a:tc>
                <a:extLst>
                  <a:ext uri="{0D108BD9-81ED-4DB2-BD59-A6C34878D82A}">
                    <a16:rowId xmlns:a16="http://schemas.microsoft.com/office/drawing/2014/main" val="2430104585"/>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any market research conducted help frame the problem.</a:t>
                      </a:r>
                    </a:p>
                  </a:txBody>
                  <a:tcPr/>
                </a:tc>
                <a:tc>
                  <a:txBody>
                    <a:bodyPr/>
                    <a:lstStyle/>
                    <a:p>
                      <a:r>
                        <a:rPr lang="en-US"/>
                        <a:t>In the current era , every human is looking to have proper vacation which heals the stressed lifestyle where we find the business opportunity In the travel &amp; hospitality domain</a:t>
                      </a:r>
                    </a:p>
                  </a:txBody>
                  <a:tcPr/>
                </a:tc>
                <a:extLst>
                  <a:ext uri="{0D108BD9-81ED-4DB2-BD59-A6C34878D82A}">
                    <a16:rowId xmlns:a16="http://schemas.microsoft.com/office/drawing/2014/main" val="3224983629"/>
                  </a:ext>
                </a:extLst>
              </a:tr>
            </a:tbl>
          </a:graphicData>
        </a:graphic>
      </p:graphicFrame>
    </p:spTree>
    <p:extLst>
      <p:ext uri="{BB962C8B-B14F-4D97-AF65-F5344CB8AC3E}">
        <p14:creationId xmlns:p14="http://schemas.microsoft.com/office/powerpoint/2010/main" val="277496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D33-FFB9-A713-3833-1CF6A517A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FC14-66DD-CE63-FFE3-6DD68C7200D0}"/>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Overview/ Idea</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8CD7E4-0844-7969-9F9B-531E89A3DD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2B8CD7E4-0844-7969-9F9B-531E89A3DD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40AAA7A3-88DE-A73D-76B4-11EA3DE564F8}"/>
              </a:ext>
            </a:extLst>
          </p:cNvPr>
          <p:cNvGraphicFramePr>
            <a:graphicFrameLocks noGrp="1"/>
          </p:cNvGraphicFramePr>
          <p:nvPr>
            <p:extLst>
              <p:ext uri="{D42A27DB-BD31-4B8C-83A1-F6EECF244321}">
                <p14:modId xmlns:p14="http://schemas.microsoft.com/office/powerpoint/2010/main" val="850636421"/>
              </p:ext>
            </p:extLst>
          </p:nvPr>
        </p:nvGraphicFramePr>
        <p:xfrm>
          <a:off x="280417" y="542166"/>
          <a:ext cx="11769364" cy="6156960"/>
        </p:xfrm>
        <a:graphic>
          <a:graphicData uri="http://schemas.openxmlformats.org/drawingml/2006/table">
            <a:tbl>
              <a:tblPr firstRow="1" bandRow="1">
                <a:tableStyleId>{5C22544A-7EE6-4342-B048-85BDC9FD1C3A}</a:tableStyleId>
              </a:tblPr>
              <a:tblGrid>
                <a:gridCol w="5486626">
                  <a:extLst>
                    <a:ext uri="{9D8B030D-6E8A-4147-A177-3AD203B41FA5}">
                      <a16:colId xmlns:a16="http://schemas.microsoft.com/office/drawing/2014/main" val="3420260581"/>
                    </a:ext>
                  </a:extLst>
                </a:gridCol>
                <a:gridCol w="6282738">
                  <a:extLst>
                    <a:ext uri="{9D8B030D-6E8A-4147-A177-3AD203B41FA5}">
                      <a16:colId xmlns:a16="http://schemas.microsoft.com/office/drawing/2014/main" val="910197492"/>
                    </a:ext>
                  </a:extLst>
                </a:gridCol>
              </a:tblGrid>
              <a:tr h="377646">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100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provide short description of the solution</a:t>
                      </a:r>
                    </a:p>
                  </a:txBody>
                  <a:tcPr/>
                </a:tc>
                <a:tc>
                  <a:txBody>
                    <a:bodyPr/>
                    <a:lstStyle/>
                    <a:p>
                      <a:r>
                        <a:rPr lang="en-US" dirty="0"/>
                        <a:t>The issues from the guest can be solved in real time with out disturbing their vacation </a:t>
                      </a:r>
                    </a:p>
                  </a:txBody>
                  <a:tcPr/>
                </a:tc>
                <a:extLst>
                  <a:ext uri="{0D108BD9-81ED-4DB2-BD59-A6C34878D82A}">
                    <a16:rowId xmlns:a16="http://schemas.microsoft.com/office/drawing/2014/main" val="2694735506"/>
                  </a:ext>
                </a:extLst>
              </a:tr>
              <a:tr h="11329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are the key objectives you are planning to achieve</a:t>
                      </a:r>
                    </a:p>
                  </a:txBody>
                  <a:tcPr/>
                </a:tc>
                <a:tc>
                  <a:txBody>
                    <a:bodyPr/>
                    <a:lstStyle/>
                    <a:p>
                      <a:r>
                        <a:rPr lang="en-US"/>
                        <a:t>Administration </a:t>
                      </a:r>
                    </a:p>
                    <a:p>
                      <a:r>
                        <a:rPr lang="en-US"/>
                        <a:t>Facilities management</a:t>
                      </a:r>
                    </a:p>
                    <a:p>
                      <a:r>
                        <a:rPr lang="en-US"/>
                        <a:t>Pantry management </a:t>
                      </a:r>
                    </a:p>
                    <a:p>
                      <a:r>
                        <a:rPr lang="en-US"/>
                        <a:t>Service management </a:t>
                      </a:r>
                    </a:p>
                  </a:txBody>
                  <a:tcPr/>
                </a:tc>
                <a:extLst>
                  <a:ext uri="{0D108BD9-81ED-4DB2-BD59-A6C34878D82A}">
                    <a16:rowId xmlns:a16="http://schemas.microsoft.com/office/drawing/2014/main" val="2766325250"/>
                  </a:ext>
                </a:extLst>
              </a:tr>
              <a:tr h="11329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How does your solution achieve to address the problem statement?</a:t>
                      </a:r>
                    </a:p>
                  </a:txBody>
                  <a:tcPr/>
                </a:tc>
                <a:tc>
                  <a:txBody>
                    <a:bodyPr/>
                    <a:lstStyle/>
                    <a:p>
                      <a:endParaRPr lang="en-US"/>
                    </a:p>
                    <a:p>
                      <a:r>
                        <a:rPr lang="en-US"/>
                        <a:t>The integration of the real time billing for the facilities used by guests and the invoicing issues solved for the Administration </a:t>
                      </a:r>
                    </a:p>
                    <a:p>
                      <a:endParaRPr lang="en-US"/>
                    </a:p>
                  </a:txBody>
                  <a:tcPr/>
                </a:tc>
                <a:extLst>
                  <a:ext uri="{0D108BD9-81ED-4DB2-BD59-A6C34878D82A}">
                    <a16:rowId xmlns:a16="http://schemas.microsoft.com/office/drawing/2014/main" val="672518870"/>
                  </a:ext>
                </a:extLst>
              </a:tr>
              <a:tr h="11329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explain the technology stack selected.</a:t>
                      </a:r>
                    </a:p>
                  </a:txBody>
                  <a:tcPr/>
                </a:tc>
                <a:tc>
                  <a:txBody>
                    <a:bodyPr/>
                    <a:lstStyle/>
                    <a:p>
                      <a:r>
                        <a:rPr lang="en-US"/>
                        <a:t>Spring boot Version 4.0.x</a:t>
                      </a:r>
                    </a:p>
                    <a:p>
                      <a:r>
                        <a:rPr lang="en-US"/>
                        <a:t>Java 21</a:t>
                      </a:r>
                    </a:p>
                    <a:p>
                      <a:r>
                        <a:rPr lang="en-US" dirty="0"/>
                        <a:t>DB </a:t>
                      </a:r>
                      <a:r>
                        <a:rPr lang="en-US" dirty="0" err="1"/>
                        <a:t>SqlLite</a:t>
                      </a:r>
                      <a:r>
                        <a:rPr lang="en-US" dirty="0"/>
                        <a:t> 3</a:t>
                      </a:r>
                    </a:p>
                    <a:p>
                      <a:r>
                        <a:rPr lang="en-US"/>
                        <a:t>React</a:t>
                      </a:r>
                    </a:p>
                  </a:txBody>
                  <a:tcPr/>
                </a:tc>
                <a:extLst>
                  <a:ext uri="{0D108BD9-81ED-4DB2-BD59-A6C34878D82A}">
                    <a16:rowId xmlns:a16="http://schemas.microsoft.com/office/drawing/2014/main" val="2430104585"/>
                  </a:ext>
                </a:extLst>
              </a:tr>
              <a:tr h="6100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provide justification on why your approach is best.</a:t>
                      </a:r>
                    </a:p>
                  </a:txBody>
                  <a:tcPr/>
                </a:tc>
                <a:tc>
                  <a:txBody>
                    <a:bodyPr/>
                    <a:lstStyle/>
                    <a:p>
                      <a:r>
                        <a:rPr lang="en-US"/>
                        <a:t>effectively meets business needs while maximizing efficiency, reducing costs, and improving customer satisfaction</a:t>
                      </a:r>
                    </a:p>
                  </a:txBody>
                  <a:tcPr/>
                </a:tc>
                <a:extLst>
                  <a:ext uri="{0D108BD9-81ED-4DB2-BD59-A6C34878D82A}">
                    <a16:rowId xmlns:a16="http://schemas.microsoft.com/office/drawing/2014/main" val="3224983629"/>
                  </a:ext>
                </a:extLst>
              </a:tr>
              <a:tr h="8714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is the state you were able to achieve?</a:t>
                      </a:r>
                    </a:p>
                  </a:txBody>
                  <a:tcPr/>
                </a:tc>
                <a:tc>
                  <a:txBody>
                    <a:bodyPr/>
                    <a:lstStyle/>
                    <a:p>
                      <a:r>
                        <a:rPr lang="en-US" b="0"/>
                        <a:t>improved and optimized business condition </a:t>
                      </a:r>
                      <a:r>
                        <a:rPr lang="en-US"/>
                        <a:t>where operations are efficient, customer satisfaction is enhanced, and business goals are effectively met</a:t>
                      </a:r>
                    </a:p>
                  </a:txBody>
                  <a:tcPr/>
                </a:tc>
                <a:extLst>
                  <a:ext uri="{0D108BD9-81ED-4DB2-BD59-A6C34878D82A}">
                    <a16:rowId xmlns:a16="http://schemas.microsoft.com/office/drawing/2014/main" val="2247336996"/>
                  </a:ext>
                </a:extLst>
              </a:tr>
            </a:tbl>
          </a:graphicData>
        </a:graphic>
      </p:graphicFrame>
    </p:spTree>
    <p:extLst>
      <p:ext uri="{BB962C8B-B14F-4D97-AF65-F5344CB8AC3E}">
        <p14:creationId xmlns:p14="http://schemas.microsoft.com/office/powerpoint/2010/main" val="88158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1C68-AFBB-1A2B-5AC3-6919FC626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63421-089E-B67A-0F28-336EC740178B}"/>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Implementation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323983-D49B-0E07-0DB0-5C37A2608FCE}"/>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323983-D49B-0E07-0DB0-5C37A2608FCE}"/>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4" name="Table 3">
            <a:extLst>
              <a:ext uri="{FF2B5EF4-FFF2-40B4-BE49-F238E27FC236}">
                <a16:creationId xmlns:a16="http://schemas.microsoft.com/office/drawing/2014/main" id="{FEC7A6AE-C0E0-9EBC-1D25-0E50C5D886C3}"/>
              </a:ext>
            </a:extLst>
          </p:cNvPr>
          <p:cNvGraphicFramePr>
            <a:graphicFrameLocks noGrp="1"/>
          </p:cNvGraphicFramePr>
          <p:nvPr>
            <p:extLst>
              <p:ext uri="{D42A27DB-BD31-4B8C-83A1-F6EECF244321}">
                <p14:modId xmlns:p14="http://schemas.microsoft.com/office/powerpoint/2010/main" val="1893510139"/>
              </p:ext>
            </p:extLst>
          </p:nvPr>
        </p:nvGraphicFramePr>
        <p:xfrm>
          <a:off x="2032000" y="1323340"/>
          <a:ext cx="8128000" cy="42113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82495861"/>
                    </a:ext>
                  </a:extLst>
                </a:gridCol>
                <a:gridCol w="4064000">
                  <a:extLst>
                    <a:ext uri="{9D8B030D-6E8A-4147-A177-3AD203B41FA5}">
                      <a16:colId xmlns:a16="http://schemas.microsoft.com/office/drawing/2014/main" val="1297741844"/>
                    </a:ext>
                  </a:extLst>
                </a:gridCol>
              </a:tblGrid>
              <a:tr h="370840">
                <a:tc gridSpan="2">
                  <a:txBody>
                    <a:bodyPr/>
                    <a:lstStyle/>
                    <a:p>
                      <a:r>
                        <a:rPr lang="en-US">
                          <a:latin typeface="Aptos"/>
                        </a:rPr>
                        <a:t>Solution Implementation</a:t>
                      </a:r>
                      <a:endParaRPr lang="en-US"/>
                    </a:p>
                  </a:txBody>
                  <a:tcPr/>
                </a:tc>
                <a:tc hMerge="1">
                  <a:txBody>
                    <a:bodyPr/>
                    <a:lstStyle/>
                    <a:p>
                      <a:endParaRPr lang="en-US"/>
                    </a:p>
                  </a:txBody>
                  <a:tcPr/>
                </a:tc>
                <a:extLst>
                  <a:ext uri="{0D108BD9-81ED-4DB2-BD59-A6C34878D82A}">
                    <a16:rowId xmlns:a16="http://schemas.microsoft.com/office/drawing/2014/main" val="17249699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High-level architecture / workflow</a:t>
                      </a:r>
                    </a:p>
                    <a:p>
                      <a:endParaRPr lang="en-US"/>
                    </a:p>
                  </a:txBody>
                  <a:tcPr/>
                </a:tc>
                <a:tc>
                  <a:txBody>
                    <a:bodyPr/>
                    <a:lstStyle/>
                    <a:p>
                      <a:r>
                        <a:rPr lang="en-US"/>
                        <a:t>Guest registration</a:t>
                      </a:r>
                    </a:p>
                    <a:p>
                      <a:r>
                        <a:rPr lang="en-US"/>
                        <a:t>Facility </a:t>
                      </a:r>
                    </a:p>
                    <a:p>
                      <a:r>
                        <a:rPr lang="en-US"/>
                        <a:t>Pantry ( Banquet and room services)</a:t>
                      </a:r>
                    </a:p>
                  </a:txBody>
                  <a:tcPr/>
                </a:tc>
                <a:extLst>
                  <a:ext uri="{0D108BD9-81ED-4DB2-BD59-A6C34878D82A}">
                    <a16:rowId xmlns:a16="http://schemas.microsoft.com/office/drawing/2014/main" val="5625629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Major components / modules</a:t>
                      </a:r>
                    </a:p>
                    <a:p>
                      <a:endParaRPr lang="en-US"/>
                    </a:p>
                  </a:txBody>
                  <a:tcPr/>
                </a:tc>
                <a:tc>
                  <a:txBody>
                    <a:bodyPr/>
                    <a:lstStyle/>
                    <a:p>
                      <a:r>
                        <a:rPr lang="en-US"/>
                        <a:t>Administration &amp; Invoicing</a:t>
                      </a:r>
                    </a:p>
                    <a:p>
                      <a:r>
                        <a:rPr lang="en-US"/>
                        <a:t>Facility management</a:t>
                      </a:r>
                    </a:p>
                    <a:p>
                      <a:r>
                        <a:rPr lang="en-US"/>
                        <a:t>Pantry management  ( Banquet and room services)</a:t>
                      </a:r>
                    </a:p>
                    <a:p>
                      <a:endParaRPr lang="en-US"/>
                    </a:p>
                  </a:txBody>
                  <a:tcPr/>
                </a:tc>
                <a:extLst>
                  <a:ext uri="{0D108BD9-81ED-4DB2-BD59-A6C34878D82A}">
                    <a16:rowId xmlns:a16="http://schemas.microsoft.com/office/drawing/2014/main" val="6728852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Technologies or tools used</a:t>
                      </a:r>
                    </a:p>
                    <a:p>
                      <a:endParaRPr lang="en-US"/>
                    </a:p>
                  </a:txBody>
                  <a:tcPr/>
                </a:tc>
                <a:tc>
                  <a:txBody>
                    <a:bodyPr/>
                    <a:lstStyle/>
                    <a:p>
                      <a:r>
                        <a:rPr lang="en-US"/>
                        <a:t>Spring boot Version</a:t>
                      </a:r>
                    </a:p>
                    <a:p>
                      <a:r>
                        <a:rPr lang="en-US"/>
                        <a:t>Java 21</a:t>
                      </a:r>
                    </a:p>
                    <a:p>
                      <a:r>
                        <a:rPr lang="en-US"/>
                        <a:t>DB SqlLite3</a:t>
                      </a:r>
                    </a:p>
                    <a:p>
                      <a:r>
                        <a:rPr lang="en-US"/>
                        <a:t>ReactJS</a:t>
                      </a:r>
                    </a:p>
                    <a:p>
                      <a:endParaRPr lang="en-US"/>
                    </a:p>
                  </a:txBody>
                  <a:tcPr/>
                </a:tc>
                <a:extLst>
                  <a:ext uri="{0D108BD9-81ED-4DB2-BD59-A6C34878D82A}">
                    <a16:rowId xmlns:a16="http://schemas.microsoft.com/office/drawing/2014/main" val="2131611623"/>
                  </a:ext>
                </a:extLst>
              </a:tr>
            </a:tbl>
          </a:graphicData>
        </a:graphic>
      </p:graphicFrame>
    </p:spTree>
    <p:extLst>
      <p:ext uri="{BB962C8B-B14F-4D97-AF65-F5344CB8AC3E}">
        <p14:creationId xmlns:p14="http://schemas.microsoft.com/office/powerpoint/2010/main" val="291277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87CB-4DE1-36F8-8BAD-3E711C54B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9E497-F02D-6921-4201-D66C2B29A4FC}"/>
              </a:ext>
            </a:extLst>
          </p:cNvPr>
          <p:cNvSpPr>
            <a:spLocks noGrp="1"/>
          </p:cNvSpPr>
          <p:nvPr>
            <p:ph type="title"/>
          </p:nvPr>
        </p:nvSpPr>
        <p:spPr>
          <a:xfrm>
            <a:off x="280417" y="178684"/>
            <a:ext cx="7407188" cy="369332"/>
          </a:xfrm>
        </p:spPr>
        <p:txBody>
          <a:bodyPr anchor="ctr">
            <a:normAutofit fontScale="90000"/>
          </a:bodyPr>
          <a:lstStyle/>
          <a:p>
            <a:r>
              <a:rPr lang="en-US">
                <a:latin typeface="Aptos"/>
              </a:rPr>
              <a:t>Three Key Features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EC76337-F850-1150-322B-7C8C510D0F8D}"/>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EC76337-F850-1150-322B-7C8C510D0F8D}"/>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BC7DA58D-2973-ECBA-406F-BF94DE1185FC}"/>
              </a:ext>
            </a:extLst>
          </p:cNvPr>
          <p:cNvGraphicFramePr>
            <a:graphicFrameLocks noGrp="1"/>
          </p:cNvGraphicFramePr>
          <p:nvPr>
            <p:extLst>
              <p:ext uri="{D42A27DB-BD31-4B8C-83A1-F6EECF244321}">
                <p14:modId xmlns:p14="http://schemas.microsoft.com/office/powerpoint/2010/main" val="3903703736"/>
              </p:ext>
            </p:extLst>
          </p:nvPr>
        </p:nvGraphicFramePr>
        <p:xfrm>
          <a:off x="451385" y="898358"/>
          <a:ext cx="11463488" cy="4970310"/>
        </p:xfrm>
        <a:graphic>
          <a:graphicData uri="http://schemas.openxmlformats.org/drawingml/2006/table">
            <a:tbl>
              <a:tblPr firstRow="1" bandRow="1">
                <a:tableStyleId>{5C22544A-7EE6-4342-B048-85BDC9FD1C3A}</a:tableStyleId>
              </a:tblPr>
              <a:tblGrid>
                <a:gridCol w="4104573">
                  <a:extLst>
                    <a:ext uri="{9D8B030D-6E8A-4147-A177-3AD203B41FA5}">
                      <a16:colId xmlns:a16="http://schemas.microsoft.com/office/drawing/2014/main" val="3420260581"/>
                    </a:ext>
                  </a:extLst>
                </a:gridCol>
                <a:gridCol w="7358915">
                  <a:extLst>
                    <a:ext uri="{9D8B030D-6E8A-4147-A177-3AD203B41FA5}">
                      <a16:colId xmlns:a16="http://schemas.microsoft.com/office/drawing/2014/main" val="910197492"/>
                    </a:ext>
                  </a:extLst>
                </a:gridCol>
              </a:tblGrid>
              <a:tr h="778794">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17697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Feature1:</a:t>
                      </a:r>
                    </a:p>
                  </a:txBody>
                  <a:tcPr/>
                </a:tc>
                <a:tc>
                  <a:txBody>
                    <a:bodyPr/>
                    <a:lstStyle/>
                    <a:p>
                      <a:r>
                        <a:rPr lang="en-US"/>
                        <a:t>Name: Administration </a:t>
                      </a:r>
                    </a:p>
                    <a:p>
                      <a:r>
                        <a:rPr lang="en-US"/>
                        <a:t>Business description:</a:t>
                      </a:r>
                      <a:br>
                        <a:rPr lang="en-US"/>
                      </a:br>
                      <a:r>
                        <a:rPr lang="en-US"/>
                        <a:t>1. Integrated billing from Facility and pantry managers module</a:t>
                      </a:r>
                    </a:p>
                    <a:p>
                      <a:r>
                        <a:rPr lang="en-US"/>
                        <a:t>2.Guests’ dashboard</a:t>
                      </a:r>
                    </a:p>
                    <a:p>
                      <a:r>
                        <a:rPr lang="en-US"/>
                        <a:t>Achievements: Billing and invoices </a:t>
                      </a:r>
                    </a:p>
                  </a:txBody>
                  <a:tcPr/>
                </a:tc>
                <a:extLst>
                  <a:ext uri="{0D108BD9-81ED-4DB2-BD59-A6C34878D82A}">
                    <a16:rowId xmlns:a16="http://schemas.microsoft.com/office/drawing/2014/main" val="2694735506"/>
                  </a:ext>
                </a:extLst>
              </a:tr>
              <a:tr h="1210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Feature2:</a:t>
                      </a:r>
                    </a:p>
                  </a:txBody>
                  <a:tcPr/>
                </a:tc>
                <a:tc>
                  <a:txBody>
                    <a:bodyPr/>
                    <a:lstStyle/>
                    <a:p>
                      <a:r>
                        <a:rPr lang="en-US"/>
                        <a:t>Name: Facility management</a:t>
                      </a:r>
                    </a:p>
                    <a:p>
                      <a:r>
                        <a:rPr lang="en-US"/>
                        <a:t>Business description: Facilities proved and used by guests’</a:t>
                      </a:r>
                    </a:p>
                    <a:p>
                      <a:r>
                        <a:rPr lang="en-US"/>
                        <a:t>Achievements: facilities billing and services </a:t>
                      </a:r>
                    </a:p>
                  </a:txBody>
                  <a:tcPr/>
                </a:tc>
                <a:extLst>
                  <a:ext uri="{0D108BD9-81ED-4DB2-BD59-A6C34878D82A}">
                    <a16:rowId xmlns:a16="http://schemas.microsoft.com/office/drawing/2014/main" val="2766325250"/>
                  </a:ext>
                </a:extLst>
              </a:tr>
              <a:tr h="1210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Feature3:</a:t>
                      </a:r>
                    </a:p>
                  </a:txBody>
                  <a:tcPr/>
                </a:tc>
                <a:tc>
                  <a:txBody>
                    <a:bodyPr/>
                    <a:lstStyle/>
                    <a:p>
                      <a:r>
                        <a:rPr lang="en-US"/>
                        <a:t>Name: Pantry management</a:t>
                      </a:r>
                    </a:p>
                    <a:p>
                      <a:r>
                        <a:rPr lang="en-US"/>
                        <a:t>Business description: Room service and services provided to guests’</a:t>
                      </a:r>
                    </a:p>
                    <a:p>
                      <a:r>
                        <a:rPr lang="en-US"/>
                        <a:t>Achievements: Pantry billing and services </a:t>
                      </a:r>
                    </a:p>
                  </a:txBody>
                  <a:tcPr/>
                </a:tc>
                <a:extLst>
                  <a:ext uri="{0D108BD9-81ED-4DB2-BD59-A6C34878D82A}">
                    <a16:rowId xmlns:a16="http://schemas.microsoft.com/office/drawing/2014/main" val="672518870"/>
                  </a:ext>
                </a:extLst>
              </a:tr>
            </a:tbl>
          </a:graphicData>
        </a:graphic>
      </p:graphicFrame>
    </p:spTree>
    <p:extLst>
      <p:ext uri="{BB962C8B-B14F-4D97-AF65-F5344CB8AC3E}">
        <p14:creationId xmlns:p14="http://schemas.microsoft.com/office/powerpoint/2010/main" val="410223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E990B-B47C-31BD-F3DE-E747DF649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52000-028B-D078-3A0D-8C314ADDDBB4}"/>
              </a:ext>
            </a:extLst>
          </p:cNvPr>
          <p:cNvSpPr>
            <a:spLocks noGrp="1"/>
          </p:cNvSpPr>
          <p:nvPr>
            <p:ph type="title"/>
          </p:nvPr>
        </p:nvSpPr>
        <p:spPr>
          <a:xfrm>
            <a:off x="280417" y="178684"/>
            <a:ext cx="7407188" cy="369332"/>
          </a:xfrm>
        </p:spPr>
        <p:txBody>
          <a:bodyPr anchor="ctr">
            <a:normAutofit fontScale="90000"/>
          </a:bodyPr>
          <a:lstStyle/>
          <a:p>
            <a:r>
              <a:rPr lang="en-US">
                <a:latin typeface="Aptos"/>
              </a:rPr>
              <a:t>Test Scenarios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E276334-6E0B-E0BF-085A-9A130393ABCB}"/>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0E276334-6E0B-E0BF-085A-9A130393ABCB}"/>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4" name="Table 3">
            <a:extLst>
              <a:ext uri="{FF2B5EF4-FFF2-40B4-BE49-F238E27FC236}">
                <a16:creationId xmlns:a16="http://schemas.microsoft.com/office/drawing/2014/main" id="{279582BD-F80C-E1CC-EAA4-CC55664E12B3}"/>
              </a:ext>
            </a:extLst>
          </p:cNvPr>
          <p:cNvGraphicFramePr>
            <a:graphicFrameLocks noGrp="1"/>
          </p:cNvGraphicFramePr>
          <p:nvPr>
            <p:extLst>
              <p:ext uri="{D42A27DB-BD31-4B8C-83A1-F6EECF244321}">
                <p14:modId xmlns:p14="http://schemas.microsoft.com/office/powerpoint/2010/main" val="2241824652"/>
              </p:ext>
            </p:extLst>
          </p:nvPr>
        </p:nvGraphicFramePr>
        <p:xfrm>
          <a:off x="1026695" y="719666"/>
          <a:ext cx="10554767" cy="6053865"/>
        </p:xfrm>
        <a:graphic>
          <a:graphicData uri="http://schemas.openxmlformats.org/drawingml/2006/table">
            <a:tbl>
              <a:tblPr firstRow="1" bandRow="1">
                <a:tableStyleId>{5C22544A-7EE6-4342-B048-85BDC9FD1C3A}</a:tableStyleId>
              </a:tblPr>
              <a:tblGrid>
                <a:gridCol w="1418365">
                  <a:extLst>
                    <a:ext uri="{9D8B030D-6E8A-4147-A177-3AD203B41FA5}">
                      <a16:colId xmlns:a16="http://schemas.microsoft.com/office/drawing/2014/main" val="332503118"/>
                    </a:ext>
                  </a:extLst>
                </a:gridCol>
                <a:gridCol w="2877644">
                  <a:extLst>
                    <a:ext uri="{9D8B030D-6E8A-4147-A177-3AD203B41FA5}">
                      <a16:colId xmlns:a16="http://schemas.microsoft.com/office/drawing/2014/main" val="302437893"/>
                    </a:ext>
                  </a:extLst>
                </a:gridCol>
                <a:gridCol w="3658958">
                  <a:extLst>
                    <a:ext uri="{9D8B030D-6E8A-4147-A177-3AD203B41FA5}">
                      <a16:colId xmlns:a16="http://schemas.microsoft.com/office/drawing/2014/main" val="861893747"/>
                    </a:ext>
                  </a:extLst>
                </a:gridCol>
                <a:gridCol w="1377448">
                  <a:extLst>
                    <a:ext uri="{9D8B030D-6E8A-4147-A177-3AD203B41FA5}">
                      <a16:colId xmlns:a16="http://schemas.microsoft.com/office/drawing/2014/main" val="2389443389"/>
                    </a:ext>
                  </a:extLst>
                </a:gridCol>
                <a:gridCol w="1222352">
                  <a:extLst>
                    <a:ext uri="{9D8B030D-6E8A-4147-A177-3AD203B41FA5}">
                      <a16:colId xmlns:a16="http://schemas.microsoft.com/office/drawing/2014/main" val="594430785"/>
                    </a:ext>
                  </a:extLst>
                </a:gridCol>
              </a:tblGrid>
              <a:tr h="658905">
                <a:tc>
                  <a:txBody>
                    <a:bodyPr/>
                    <a:lstStyle/>
                    <a:p>
                      <a:r>
                        <a:rPr lang="en-US"/>
                        <a:t>Scenario No</a:t>
                      </a:r>
                    </a:p>
                  </a:txBody>
                  <a:tcPr/>
                </a:tc>
                <a:tc>
                  <a:txBody>
                    <a:bodyPr/>
                    <a:lstStyle/>
                    <a:p>
                      <a:r>
                        <a:rPr lang="en-US"/>
                        <a:t>Scenario Name</a:t>
                      </a:r>
                    </a:p>
                  </a:txBody>
                  <a:tcPr/>
                </a:tc>
                <a:tc>
                  <a:txBody>
                    <a:bodyPr/>
                    <a:lstStyle/>
                    <a:p>
                      <a:r>
                        <a:rPr lang="en-US"/>
                        <a:t>Scenario Description</a:t>
                      </a:r>
                    </a:p>
                  </a:txBody>
                  <a:tcPr/>
                </a:tc>
                <a:tc gridSpan="2">
                  <a:txBody>
                    <a:bodyPr/>
                    <a:lstStyle/>
                    <a:p>
                      <a:r>
                        <a:rPr lang="en-US"/>
                        <a:t>Test case count</a:t>
                      </a:r>
                      <a:br>
                        <a:rPr lang="en-US"/>
                      </a:br>
                      <a:r>
                        <a:rPr lang="en-US"/>
                        <a:t>Positive           Negative</a:t>
                      </a:r>
                    </a:p>
                  </a:txBody>
                  <a:tcPr/>
                </a:tc>
                <a:tc hMerge="1">
                  <a:txBody>
                    <a:bodyPr/>
                    <a:lstStyle/>
                    <a:p>
                      <a:endParaRPr lang="en-US"/>
                    </a:p>
                  </a:txBody>
                  <a:tcPr/>
                </a:tc>
                <a:extLst>
                  <a:ext uri="{0D108BD9-81ED-4DB2-BD59-A6C34878D82A}">
                    <a16:rowId xmlns:a16="http://schemas.microsoft.com/office/drawing/2014/main" val="2305252502"/>
                  </a:ext>
                </a:extLst>
              </a:tr>
              <a:tr h="593351">
                <a:tc>
                  <a:txBody>
                    <a:bodyPr/>
                    <a:lstStyle/>
                    <a:p>
                      <a:r>
                        <a:rPr lang="en-US" err="1"/>
                        <a:t>TSc</a:t>
                      </a:r>
                      <a:r>
                        <a:rPr lang="en-US"/>
                        <a:t> 1</a:t>
                      </a:r>
                    </a:p>
                  </a:txBody>
                  <a:tcPr/>
                </a:tc>
                <a:tc>
                  <a:txBody>
                    <a:bodyPr/>
                    <a:lstStyle/>
                    <a:p>
                      <a:r>
                        <a:rPr lang="en-US"/>
                        <a:t>Facility manger Login</a:t>
                      </a:r>
                    </a:p>
                  </a:txBody>
                  <a:tcPr/>
                </a:tc>
                <a:tc>
                  <a:txBody>
                    <a:bodyPr/>
                    <a:lstStyle/>
                    <a:p>
                      <a:pPr lvl="0">
                        <a:buNone/>
                      </a:pPr>
                      <a:r>
                        <a:rPr lang="en-US" sz="1800" b="0" i="0" u="none" strike="noStrike" noProof="0">
                          <a:latin typeface="Calibri"/>
                          <a:ea typeface="Calibri"/>
                          <a:cs typeface="Calibri"/>
                        </a:rPr>
                        <a:t>Verify valid login success and invalid credential rejection.</a:t>
                      </a:r>
                      <a:endParaRPr lang="en-US"/>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3542658652"/>
                  </a:ext>
                </a:extLst>
              </a:tr>
              <a:tr h="593351">
                <a:tc>
                  <a:txBody>
                    <a:bodyPr/>
                    <a:lstStyle/>
                    <a:p>
                      <a:r>
                        <a:rPr lang="en-US"/>
                        <a:t>TSc2</a:t>
                      </a:r>
                    </a:p>
                  </a:txBody>
                  <a:tcPr/>
                </a:tc>
                <a:tc>
                  <a:txBody>
                    <a:bodyPr/>
                    <a:lstStyle/>
                    <a:p>
                      <a:r>
                        <a:rPr lang="en-US"/>
                        <a:t>Facility access management</a:t>
                      </a:r>
                    </a:p>
                  </a:txBody>
                  <a:tcPr/>
                </a:tc>
                <a:tc>
                  <a:txBody>
                    <a:bodyPr/>
                    <a:lstStyle/>
                    <a:p>
                      <a:pPr lvl="0">
                        <a:buNone/>
                      </a:pPr>
                      <a:r>
                        <a:rPr lang="en-US" sz="1800" b="0" i="0" u="none" strike="noStrike" noProof="0">
                          <a:latin typeface="Calibri"/>
                          <a:ea typeface="Calibri"/>
                          <a:cs typeface="Calibri"/>
                        </a:rPr>
                        <a:t>Validate CRUD operations on facility records and access control.</a:t>
                      </a:r>
                      <a:endParaRPr lang="en-US"/>
                    </a:p>
                  </a:txBody>
                  <a:tcPr/>
                </a:tc>
                <a:tc>
                  <a:txBody>
                    <a:bodyPr/>
                    <a:lstStyle/>
                    <a:p>
                      <a:r>
                        <a:rPr lang="en-US"/>
                        <a:t>4</a:t>
                      </a:r>
                    </a:p>
                  </a:txBody>
                  <a:tcPr/>
                </a:tc>
                <a:tc>
                  <a:txBody>
                    <a:bodyPr/>
                    <a:lstStyle/>
                    <a:p>
                      <a:r>
                        <a:rPr lang="en-US"/>
                        <a:t>2</a:t>
                      </a:r>
                    </a:p>
                  </a:txBody>
                  <a:tcPr/>
                </a:tc>
                <a:extLst>
                  <a:ext uri="{0D108BD9-81ED-4DB2-BD59-A6C34878D82A}">
                    <a16:rowId xmlns:a16="http://schemas.microsoft.com/office/drawing/2014/main" val="1192901902"/>
                  </a:ext>
                </a:extLst>
              </a:tr>
              <a:tr h="593351">
                <a:tc>
                  <a:txBody>
                    <a:bodyPr/>
                    <a:lstStyle/>
                    <a:p>
                      <a:r>
                        <a:rPr lang="en-US"/>
                        <a:t>TSc3</a:t>
                      </a:r>
                    </a:p>
                  </a:txBody>
                  <a:tcPr/>
                </a:tc>
                <a:tc>
                  <a:txBody>
                    <a:bodyPr/>
                    <a:lstStyle/>
                    <a:p>
                      <a:r>
                        <a:rPr lang="en-US"/>
                        <a:t>Pantry manger Login</a:t>
                      </a:r>
                    </a:p>
                  </a:txBody>
                  <a:tcPr/>
                </a:tc>
                <a:tc>
                  <a:txBody>
                    <a:bodyPr/>
                    <a:lstStyle/>
                    <a:p>
                      <a:pPr lvl="0">
                        <a:buNone/>
                      </a:pPr>
                      <a:r>
                        <a:rPr lang="en-US" sz="1800" b="0" i="0" u="none" strike="noStrike" noProof="0">
                          <a:latin typeface="Calibri"/>
                          <a:ea typeface="Calibri"/>
                          <a:cs typeface="Calibri"/>
                        </a:rPr>
                        <a:t>Verify valid login success and invalid credential rejection.</a:t>
                      </a:r>
                      <a:endParaRPr lang="en-US"/>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4069766160"/>
                  </a:ext>
                </a:extLst>
              </a:tr>
              <a:tr h="593351">
                <a:tc>
                  <a:txBody>
                    <a:bodyPr/>
                    <a:lstStyle/>
                    <a:p>
                      <a:r>
                        <a:rPr lang="en-US"/>
                        <a:t>TSc4</a:t>
                      </a:r>
                    </a:p>
                  </a:txBody>
                  <a:tcPr/>
                </a:tc>
                <a:tc>
                  <a:txBody>
                    <a:bodyPr/>
                    <a:lstStyle/>
                    <a:p>
                      <a:r>
                        <a:rPr lang="en-US"/>
                        <a:t>Pantry access management</a:t>
                      </a:r>
                    </a:p>
                  </a:txBody>
                  <a:tcPr/>
                </a:tc>
                <a:tc>
                  <a:txBody>
                    <a:bodyPr/>
                    <a:lstStyle/>
                    <a:p>
                      <a:pPr lvl="0">
                        <a:buNone/>
                      </a:pPr>
                      <a:r>
                        <a:rPr lang="en-US" sz="1800" b="0" i="0" u="none" strike="noStrike" noProof="0">
                          <a:latin typeface="Calibri"/>
                          <a:ea typeface="Calibri"/>
                          <a:cs typeface="Calibri"/>
                        </a:rPr>
                        <a:t>Validate room service/banquet management and input validation.</a:t>
                      </a:r>
                      <a:endParaRPr lang="en-US"/>
                    </a:p>
                  </a:txBody>
                  <a:tcPr/>
                </a:tc>
                <a:tc>
                  <a:txBody>
                    <a:bodyPr/>
                    <a:lstStyle/>
                    <a:p>
                      <a:r>
                        <a:rPr lang="en-US"/>
                        <a:t>4</a:t>
                      </a:r>
                    </a:p>
                  </a:txBody>
                  <a:tcPr/>
                </a:tc>
                <a:tc>
                  <a:txBody>
                    <a:bodyPr/>
                    <a:lstStyle/>
                    <a:p>
                      <a:r>
                        <a:rPr lang="en-US"/>
                        <a:t>2</a:t>
                      </a:r>
                    </a:p>
                  </a:txBody>
                  <a:tcPr/>
                </a:tc>
                <a:extLst>
                  <a:ext uri="{0D108BD9-81ED-4DB2-BD59-A6C34878D82A}">
                    <a16:rowId xmlns:a16="http://schemas.microsoft.com/office/drawing/2014/main" val="4125363029"/>
                  </a:ext>
                </a:extLst>
              </a:tr>
              <a:tr h="593351">
                <a:tc>
                  <a:txBody>
                    <a:bodyPr/>
                    <a:lstStyle/>
                    <a:p>
                      <a:r>
                        <a:rPr lang="en-US" err="1"/>
                        <a:t>TSc</a:t>
                      </a:r>
                      <a:r>
                        <a:rPr lang="en-US"/>
                        <a:t> 5</a:t>
                      </a:r>
                    </a:p>
                  </a:txBody>
                  <a:tcPr/>
                </a:tc>
                <a:tc>
                  <a:txBody>
                    <a:bodyPr/>
                    <a:lstStyle/>
                    <a:p>
                      <a:r>
                        <a:rPr lang="en-US"/>
                        <a:t>Admin manger Login</a:t>
                      </a:r>
                    </a:p>
                  </a:txBody>
                  <a:tcPr/>
                </a:tc>
                <a:tc>
                  <a:txBody>
                    <a:bodyPr/>
                    <a:lstStyle/>
                    <a:p>
                      <a:pPr lvl="0">
                        <a:buNone/>
                      </a:pPr>
                      <a:r>
                        <a:rPr lang="en-US" sz="1800" b="0" i="0" u="none" strike="noStrike" noProof="0">
                          <a:latin typeface="Calibri"/>
                          <a:ea typeface="Calibri"/>
                          <a:cs typeface="Calibri"/>
                        </a:rPr>
                        <a:t>Verify valid login success and invalid credential rejection.</a:t>
                      </a:r>
                      <a:endParaRPr lang="en-US"/>
                    </a:p>
                  </a:txBody>
                  <a:tcPr/>
                </a:tc>
                <a:tc>
                  <a:txBody>
                    <a:bodyPr/>
                    <a:lstStyle/>
                    <a:p>
                      <a:r>
                        <a:rPr lang="en-US"/>
                        <a:t>1</a:t>
                      </a:r>
                    </a:p>
                  </a:txBody>
                  <a:tcPr/>
                </a:tc>
                <a:tc>
                  <a:txBody>
                    <a:bodyPr/>
                    <a:lstStyle/>
                    <a:p>
                      <a:r>
                        <a:rPr lang="en-US"/>
                        <a:t>1</a:t>
                      </a:r>
                    </a:p>
                  </a:txBody>
                  <a:tcPr/>
                </a:tc>
                <a:extLst>
                  <a:ext uri="{0D108BD9-81ED-4DB2-BD59-A6C34878D82A}">
                    <a16:rowId xmlns:a16="http://schemas.microsoft.com/office/drawing/2014/main" val="4135587617"/>
                  </a:ext>
                </a:extLst>
              </a:tr>
              <a:tr h="593351">
                <a:tc>
                  <a:txBody>
                    <a:bodyPr/>
                    <a:lstStyle/>
                    <a:p>
                      <a:r>
                        <a:rPr lang="en-US"/>
                        <a:t>TSc6</a:t>
                      </a:r>
                    </a:p>
                  </a:txBody>
                  <a:tcPr/>
                </a:tc>
                <a:tc>
                  <a:txBody>
                    <a:bodyPr/>
                    <a:lstStyle/>
                    <a:p>
                      <a:r>
                        <a:rPr lang="en-US"/>
                        <a:t>Admin dashboard</a:t>
                      </a:r>
                    </a:p>
                  </a:txBody>
                  <a:tcPr/>
                </a:tc>
                <a:tc>
                  <a:txBody>
                    <a:bodyPr/>
                    <a:lstStyle/>
                    <a:p>
                      <a:pPr lvl="0">
                        <a:buNone/>
                      </a:pPr>
                      <a:r>
                        <a:rPr lang="en-US" sz="1800" b="0" i="0" u="none" strike="noStrike" noProof="0">
                          <a:latin typeface="Calibri"/>
                          <a:ea typeface="Calibri"/>
                          <a:cs typeface="Calibri"/>
                        </a:rPr>
                        <a:t>Validate integrated billing, guest data, and module metrics display.</a:t>
                      </a:r>
                      <a:endParaRPr lang="en-US"/>
                    </a:p>
                  </a:txBody>
                  <a:tcPr/>
                </a:tc>
                <a:tc>
                  <a:txBody>
                    <a:bodyPr/>
                    <a:lstStyle/>
                    <a:p>
                      <a:r>
                        <a:rPr lang="en-US"/>
                        <a:t>5</a:t>
                      </a:r>
                    </a:p>
                  </a:txBody>
                  <a:tcPr/>
                </a:tc>
                <a:tc>
                  <a:txBody>
                    <a:bodyPr/>
                    <a:lstStyle/>
                    <a:p>
                      <a:r>
                        <a:rPr lang="en-US"/>
                        <a:t>2</a:t>
                      </a:r>
                    </a:p>
                  </a:txBody>
                  <a:tcPr/>
                </a:tc>
                <a:extLst>
                  <a:ext uri="{0D108BD9-81ED-4DB2-BD59-A6C34878D82A}">
                    <a16:rowId xmlns:a16="http://schemas.microsoft.com/office/drawing/2014/main" val="959986926"/>
                  </a:ext>
                </a:extLst>
              </a:tr>
              <a:tr h="900952">
                <a:tc>
                  <a:txBody>
                    <a:bodyPr/>
                    <a:lstStyle/>
                    <a:p>
                      <a:r>
                        <a:rPr lang="en-US"/>
                        <a:t>TSc7</a:t>
                      </a:r>
                    </a:p>
                  </a:txBody>
                  <a:tcPr/>
                </a:tc>
                <a:tc>
                  <a:txBody>
                    <a:bodyPr/>
                    <a:lstStyle/>
                    <a:p>
                      <a:r>
                        <a:rPr lang="en-US"/>
                        <a:t>Admin Invoice management</a:t>
                      </a:r>
                    </a:p>
                  </a:txBody>
                  <a:tcPr/>
                </a:tc>
                <a:tc>
                  <a:txBody>
                    <a:bodyPr/>
                    <a:lstStyle/>
                    <a:p>
                      <a:pPr lvl="0">
                        <a:buNone/>
                      </a:pPr>
                      <a:r>
                        <a:rPr lang="en-US" sz="1800" b="0" i="0" u="none" strike="noStrike" noProof="0">
                          <a:latin typeface="Calibri"/>
                          <a:ea typeface="Calibri"/>
                          <a:cs typeface="Calibri"/>
                        </a:rPr>
                        <a:t>Ensure accurate generation and management of cross-module invoices.</a:t>
                      </a:r>
                      <a:endParaRPr lang="en-US"/>
                    </a:p>
                  </a:txBody>
                  <a:tcPr/>
                </a:tc>
                <a:tc>
                  <a:txBody>
                    <a:bodyPr/>
                    <a:lstStyle/>
                    <a:p>
                      <a:r>
                        <a:rPr lang="en-US"/>
                        <a:t>5</a:t>
                      </a:r>
                    </a:p>
                  </a:txBody>
                  <a:tcPr/>
                </a:tc>
                <a:tc>
                  <a:txBody>
                    <a:bodyPr/>
                    <a:lstStyle/>
                    <a:p>
                      <a:r>
                        <a:rPr lang="en-US"/>
                        <a:t>2</a:t>
                      </a:r>
                    </a:p>
                  </a:txBody>
                  <a:tcPr/>
                </a:tc>
                <a:extLst>
                  <a:ext uri="{0D108BD9-81ED-4DB2-BD59-A6C34878D82A}">
                    <a16:rowId xmlns:a16="http://schemas.microsoft.com/office/drawing/2014/main" val="1253809765"/>
                  </a:ext>
                </a:extLst>
              </a:tr>
              <a:tr h="593351">
                <a:tc>
                  <a:txBody>
                    <a:bodyPr/>
                    <a:lstStyle/>
                    <a:p>
                      <a:r>
                        <a:rPr lang="en-US"/>
                        <a:t>TSc8</a:t>
                      </a:r>
                    </a:p>
                  </a:txBody>
                  <a:tcPr/>
                </a:tc>
                <a:tc>
                  <a:txBody>
                    <a:bodyPr/>
                    <a:lstStyle/>
                    <a:p>
                      <a:r>
                        <a:rPr lang="en-US"/>
                        <a:t>Admin-guest management</a:t>
                      </a:r>
                    </a:p>
                  </a:txBody>
                  <a:tcPr/>
                </a:tc>
                <a:tc>
                  <a:txBody>
                    <a:bodyPr/>
                    <a:lstStyle/>
                    <a:p>
                      <a:pPr lvl="0">
                        <a:buNone/>
                      </a:pPr>
                      <a:r>
                        <a:rPr lang="en-US" sz="1800" b="0" i="0" u="none" strike="noStrike" noProof="0">
                          <a:latin typeface="Calibri"/>
                          <a:ea typeface="Calibri"/>
                          <a:cs typeface="Calibri"/>
                        </a:rPr>
                        <a:t>Validate guest record CRUD and handling of duplicate/invalid entries.</a:t>
                      </a:r>
                      <a:endParaRPr lang="en-US"/>
                    </a:p>
                  </a:txBody>
                  <a:tcPr/>
                </a:tc>
                <a:tc>
                  <a:txBody>
                    <a:bodyPr/>
                    <a:lstStyle/>
                    <a:p>
                      <a:r>
                        <a:rPr lang="en-US"/>
                        <a:t>4</a:t>
                      </a:r>
                    </a:p>
                  </a:txBody>
                  <a:tcPr/>
                </a:tc>
                <a:tc>
                  <a:txBody>
                    <a:bodyPr/>
                    <a:lstStyle/>
                    <a:p>
                      <a:r>
                        <a:rPr lang="en-US"/>
                        <a:t>1</a:t>
                      </a:r>
                    </a:p>
                  </a:txBody>
                  <a:tcPr/>
                </a:tc>
                <a:extLst>
                  <a:ext uri="{0D108BD9-81ED-4DB2-BD59-A6C34878D82A}">
                    <a16:rowId xmlns:a16="http://schemas.microsoft.com/office/drawing/2014/main" val="1606926218"/>
                  </a:ext>
                </a:extLst>
              </a:tr>
            </a:tbl>
          </a:graphicData>
        </a:graphic>
      </p:graphicFrame>
    </p:spTree>
    <p:extLst>
      <p:ext uri="{BB962C8B-B14F-4D97-AF65-F5344CB8AC3E}">
        <p14:creationId xmlns:p14="http://schemas.microsoft.com/office/powerpoint/2010/main" val="2007610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8D98-1538-EB7B-B626-52AB2B5CA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9C7E0-41CC-249F-2880-C94DB221C3E6}"/>
              </a:ext>
            </a:extLst>
          </p:cNvPr>
          <p:cNvSpPr>
            <a:spLocks noGrp="1"/>
          </p:cNvSpPr>
          <p:nvPr>
            <p:ph type="title"/>
          </p:nvPr>
        </p:nvSpPr>
        <p:spPr>
          <a:xfrm>
            <a:off x="280417" y="178684"/>
            <a:ext cx="7407188" cy="369332"/>
          </a:xfrm>
        </p:spPr>
        <p:txBody>
          <a:bodyPr anchor="ctr">
            <a:normAutofit fontScale="90000"/>
          </a:bodyPr>
          <a:lstStyle/>
          <a:p>
            <a:r>
              <a:rPr lang="en-US">
                <a:latin typeface="Aptos"/>
              </a:rPr>
              <a:t>Demo</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7AA07F-066E-4914-46E7-27FFF51CE8E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677AA07F-066E-4914-46E7-27FFF51CE8E0}"/>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C5101CBB-275F-7A57-A1F9-E3639801A64A}"/>
              </a:ext>
            </a:extLst>
          </p:cNvPr>
          <p:cNvSpPr txBox="1"/>
          <p:nvPr/>
        </p:nvSpPr>
        <p:spPr>
          <a:xfrm>
            <a:off x="280416" y="774774"/>
            <a:ext cx="7372898" cy="923330"/>
          </a:xfrm>
          <a:prstGeom prst="rect">
            <a:avLst/>
          </a:prstGeom>
          <a:noFill/>
        </p:spPr>
        <p:txBody>
          <a:bodyPr wrap="square">
            <a:spAutoFit/>
          </a:bodyPr>
          <a:lstStyle/>
          <a:p>
            <a:pPr marL="285750" indent="-285750">
              <a:buFont typeface="Arial" panose="020B0604020202020204" pitchFamily="34" charset="0"/>
              <a:buChar char="•"/>
            </a:pPr>
            <a:r>
              <a:rPr lang="en-US"/>
              <a:t>Short demo video/screenshots</a:t>
            </a:r>
          </a:p>
          <a:p>
            <a:pPr marL="285750" indent="-285750">
              <a:buFont typeface="Arial" panose="020B0604020202020204" pitchFamily="34" charset="0"/>
              <a:buChar char="•"/>
            </a:pPr>
            <a:r>
              <a:rPr lang="en-US"/>
              <a:t>User flow walkthrough</a:t>
            </a:r>
          </a:p>
          <a:p>
            <a:pPr marL="285750" indent="-285750">
              <a:buFont typeface="Arial" panose="020B0604020202020204" pitchFamily="34" charset="0"/>
              <a:buChar char="•"/>
            </a:pPr>
            <a:r>
              <a:rPr lang="en-US"/>
              <a:t>Record the videos with transcripts</a:t>
            </a:r>
          </a:p>
        </p:txBody>
      </p:sp>
    </p:spTree>
    <p:extLst>
      <p:ext uri="{BB962C8B-B14F-4D97-AF65-F5344CB8AC3E}">
        <p14:creationId xmlns:p14="http://schemas.microsoft.com/office/powerpoint/2010/main" val="271910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1C1B-B772-3770-5515-726B1AC91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456EB-B09F-4E99-E55D-8EB4D6EC1BB3}"/>
              </a:ext>
            </a:extLst>
          </p:cNvPr>
          <p:cNvSpPr>
            <a:spLocks noGrp="1"/>
          </p:cNvSpPr>
          <p:nvPr>
            <p:ph type="title"/>
          </p:nvPr>
        </p:nvSpPr>
        <p:spPr>
          <a:xfrm>
            <a:off x="280417" y="178684"/>
            <a:ext cx="7407188" cy="369332"/>
          </a:xfrm>
        </p:spPr>
        <p:txBody>
          <a:bodyPr anchor="ctr">
            <a:normAutofit fontScale="90000"/>
          </a:bodyPr>
          <a:lstStyle/>
          <a:p>
            <a:r>
              <a:rPr lang="en-US">
                <a:latin typeface="Aptos"/>
              </a:rPr>
              <a:t>Outcomes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10B378C-EC97-8216-C222-FECCF4799B2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10B378C-EC97-8216-C222-FECCF4799B23}"/>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977D0765-E910-8684-4AA9-3210FD5B4B3E}"/>
              </a:ext>
            </a:extLst>
          </p:cNvPr>
          <p:cNvGraphicFramePr>
            <a:graphicFrameLocks noGrp="1"/>
          </p:cNvGraphicFramePr>
          <p:nvPr>
            <p:extLst>
              <p:ext uri="{D42A27DB-BD31-4B8C-83A1-F6EECF244321}">
                <p14:modId xmlns:p14="http://schemas.microsoft.com/office/powerpoint/2010/main" val="71152531"/>
              </p:ext>
            </p:extLst>
          </p:nvPr>
        </p:nvGraphicFramePr>
        <p:xfrm>
          <a:off x="1631950" y="941164"/>
          <a:ext cx="8411210" cy="483235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45160">
                <a:tc>
                  <a:txBody>
                    <a:bodyPr/>
                    <a:lstStyle/>
                    <a:p>
                      <a:pPr marL="0" indent="0">
                        <a:buFont typeface="Arial" panose="020B0604020202020204" pitchFamily="34" charset="0"/>
                        <a:buNone/>
                      </a:pPr>
                      <a:r>
                        <a:rPr lang="en-US"/>
                        <a:t>Business impact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issues from the guest can be solved in real time with out disturbing their vacation </a:t>
                      </a:r>
                    </a:p>
                  </a:txBody>
                  <a:tcPr/>
                </a:tc>
                <a:extLst>
                  <a:ext uri="{0D108BD9-81ED-4DB2-BD59-A6C34878D82A}">
                    <a16:rowId xmlns:a16="http://schemas.microsoft.com/office/drawing/2014/main" val="2694735506"/>
                  </a:ext>
                </a:extLst>
              </a:tr>
              <a:tr h="770890">
                <a:tc>
                  <a:txBody>
                    <a:bodyPr/>
                    <a:lstStyle/>
                    <a:p>
                      <a:pPr marL="0" indent="0">
                        <a:buFont typeface="Arial" panose="020B0604020202020204" pitchFamily="34" charset="0"/>
                        <a:buNone/>
                      </a:pPr>
                      <a:r>
                        <a:rPr lang="en-US"/>
                        <a:t>Achieved Technical benefits</a:t>
                      </a:r>
                    </a:p>
                  </a:txBody>
                  <a:tcPr/>
                </a:tc>
                <a:tc>
                  <a:txBody>
                    <a:bodyPr/>
                    <a:lstStyle/>
                    <a:p>
                      <a:r>
                        <a:rPr lang="en-US"/>
                        <a:t>Implementation and integration of the different API sets to have the business transactions smoothly with micro services which </a:t>
                      </a:r>
                    </a:p>
                  </a:txBody>
                  <a:tcPr/>
                </a:tc>
                <a:extLst>
                  <a:ext uri="{0D108BD9-81ED-4DB2-BD59-A6C34878D82A}">
                    <a16:rowId xmlns:a16="http://schemas.microsoft.com/office/drawing/2014/main" val="2766325250"/>
                  </a:ext>
                </a:extLst>
              </a:tr>
              <a:tr h="770890">
                <a:tc>
                  <a:txBody>
                    <a:bodyPr/>
                    <a:lstStyle/>
                    <a:p>
                      <a:pPr marL="0" indent="0">
                        <a:buFont typeface="Arial" panose="020B0604020202020204" pitchFamily="34" charset="0"/>
                        <a:buNone/>
                      </a:pPr>
                      <a:r>
                        <a:rPr lang="en-US"/>
                        <a:t>Cost/time/value improvements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optimized business solutions </a:t>
                      </a:r>
                      <a:r>
                        <a:rPr lang="en-US"/>
                        <a:t>were provided for customer and enabled the operations efficiency , satisfaction is enhanced, and business goals are effectively met</a:t>
                      </a:r>
                    </a:p>
                    <a:p>
                      <a:endParaRPr lang="en-US"/>
                    </a:p>
                  </a:txBody>
                  <a:tcPr/>
                </a:tc>
                <a:extLst>
                  <a:ext uri="{0D108BD9-81ED-4DB2-BD59-A6C34878D82A}">
                    <a16:rowId xmlns:a16="http://schemas.microsoft.com/office/drawing/2014/main" val="672518870"/>
                  </a:ext>
                </a:extLst>
              </a:tr>
              <a:tr h="770890">
                <a:tc>
                  <a:txBody>
                    <a:bodyPr/>
                    <a:lstStyle/>
                    <a:p>
                      <a:pPr marL="0" indent="0">
                        <a:buFont typeface="Arial" panose="020B0604020202020204" pitchFamily="34" charset="0"/>
                        <a:buNone/>
                      </a:pPr>
                      <a:r>
                        <a:rPr lang="en-US"/>
                        <a:t>Key Metrics</a:t>
                      </a:r>
                    </a:p>
                  </a:txBody>
                  <a:tcPr/>
                </a:tc>
                <a:tc>
                  <a:txBody>
                    <a:bodyPr/>
                    <a:lstStyle/>
                    <a:p>
                      <a:r>
                        <a:rPr lang="en-US"/>
                        <a:t>Goals achieved</a:t>
                      </a:r>
                    </a:p>
                  </a:txBody>
                  <a:tcPr/>
                </a:tc>
                <a:extLst>
                  <a:ext uri="{0D108BD9-81ED-4DB2-BD59-A6C34878D82A}">
                    <a16:rowId xmlns:a16="http://schemas.microsoft.com/office/drawing/2014/main" val="1404047477"/>
                  </a:ext>
                </a:extLst>
              </a:tr>
            </a:tbl>
          </a:graphicData>
        </a:graphic>
      </p:graphicFrame>
    </p:spTree>
    <p:extLst>
      <p:ext uri="{BB962C8B-B14F-4D97-AF65-F5344CB8AC3E}">
        <p14:creationId xmlns:p14="http://schemas.microsoft.com/office/powerpoint/2010/main" val="1317243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4B8E-226E-048B-2C14-8ECF09990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BBE7-16E5-1F6E-93BF-FEA4AD68F1F8}"/>
              </a:ext>
            </a:extLst>
          </p:cNvPr>
          <p:cNvSpPr>
            <a:spLocks noGrp="1"/>
          </p:cNvSpPr>
          <p:nvPr>
            <p:ph type="title"/>
          </p:nvPr>
        </p:nvSpPr>
        <p:spPr>
          <a:xfrm>
            <a:off x="280417" y="178684"/>
            <a:ext cx="7407188" cy="369332"/>
          </a:xfrm>
        </p:spPr>
        <p:txBody>
          <a:bodyPr anchor="ctr">
            <a:normAutofit fontScale="90000"/>
          </a:bodyPr>
          <a:lstStyle/>
          <a:p>
            <a:r>
              <a:rPr lang="en-US">
                <a:latin typeface="Aptos"/>
              </a:rPr>
              <a:t>Problem Statement (Mock API)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6398B3-6BF4-A7EF-D278-8B142193616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436398B3-6BF4-A7EF-D278-8B1421936160}"/>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C8BDAAFD-FE0C-ABDE-0DC4-5EA01E602537}"/>
              </a:ext>
            </a:extLst>
          </p:cNvPr>
          <p:cNvGraphicFramePr>
            <a:graphicFrameLocks noGrp="1"/>
          </p:cNvGraphicFramePr>
          <p:nvPr/>
        </p:nvGraphicFramePr>
        <p:xfrm>
          <a:off x="1904365" y="904875"/>
          <a:ext cx="8205470" cy="5787608"/>
        </p:xfrm>
        <a:graphic>
          <a:graphicData uri="http://schemas.openxmlformats.org/drawingml/2006/table">
            <a:tbl>
              <a:tblPr firstRow="1" bandRow="1">
                <a:tableStyleId>{5C22544A-7EE6-4342-B048-85BDC9FD1C3A}</a:tableStyleId>
              </a:tblPr>
              <a:tblGrid>
                <a:gridCol w="3825213">
                  <a:extLst>
                    <a:ext uri="{9D8B030D-6E8A-4147-A177-3AD203B41FA5}">
                      <a16:colId xmlns:a16="http://schemas.microsoft.com/office/drawing/2014/main" val="3420260581"/>
                    </a:ext>
                  </a:extLst>
                </a:gridCol>
                <a:gridCol w="4380257">
                  <a:extLst>
                    <a:ext uri="{9D8B030D-6E8A-4147-A177-3AD203B41FA5}">
                      <a16:colId xmlns:a16="http://schemas.microsoft.com/office/drawing/2014/main" val="910197492"/>
                    </a:ext>
                  </a:extLst>
                </a:gridCol>
              </a:tblGrid>
              <a:tr h="688235">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87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problem are you trying to solve?</a:t>
                      </a:r>
                    </a:p>
                  </a:txBody>
                  <a:tcPr/>
                </a:tc>
                <a:tc>
                  <a:txBody>
                    <a:bodyPr/>
                    <a:lstStyle/>
                    <a:p>
                      <a:r>
                        <a:rPr lang="en-US"/>
                        <a:t>Dependency on real backend APIs causing test execution, delays and inability to test edge scenarios</a:t>
                      </a:r>
                    </a:p>
                  </a:txBody>
                  <a:tcPr/>
                </a:tc>
                <a:extLst>
                  <a:ext uri="{0D108BD9-81ED-4DB2-BD59-A6C34878D82A}">
                    <a16:rowId xmlns:a16="http://schemas.microsoft.com/office/drawing/2014/main" val="2694735506"/>
                  </a:ext>
                </a:extLst>
              </a:tr>
              <a:tr h="6939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define the identified business need and importance to business</a:t>
                      </a:r>
                    </a:p>
                  </a:txBody>
                  <a:tcPr/>
                </a:tc>
                <a:tc>
                  <a:txBody>
                    <a:bodyPr/>
                    <a:lstStyle/>
                    <a:p>
                      <a:r>
                        <a:rPr lang="en-US"/>
                        <a:t>Business needs a stable, fast and reliable testing framework.</a:t>
                      </a:r>
                    </a:p>
                  </a:txBody>
                  <a:tcPr/>
                </a:tc>
                <a:extLst>
                  <a:ext uri="{0D108BD9-81ED-4DB2-BD59-A6C34878D82A}">
                    <a16:rowId xmlns:a16="http://schemas.microsoft.com/office/drawing/2014/main" val="2766325250"/>
                  </a:ext>
                </a:extLst>
              </a:tr>
              <a:tr h="11430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Who is affected by this problem? What improvements are assumed to be brought by implementation?</a:t>
                      </a:r>
                    </a:p>
                  </a:txBody>
                  <a:tcPr/>
                </a:tc>
                <a:tc>
                  <a:txBody>
                    <a:bodyPr/>
                    <a:lstStyle/>
                    <a:p>
                      <a:r>
                        <a:rPr lang="en-US"/>
                        <a:t>QA team, Developers and Business.</a:t>
                      </a:r>
                      <a:br>
                        <a:rPr lang="en-US"/>
                      </a:br>
                      <a:r>
                        <a:rPr lang="en-US"/>
                        <a:t>Improvements:</a:t>
                      </a:r>
                      <a:br>
                        <a:rPr lang="en-US"/>
                      </a:br>
                      <a:r>
                        <a:rPr lang="en-US"/>
                        <a:t>- faster execution</a:t>
                      </a:r>
                      <a:br>
                        <a:rPr lang="en-US"/>
                      </a:br>
                      <a:r>
                        <a:rPr lang="en-US"/>
                        <a:t>-Stable regression</a:t>
                      </a:r>
                    </a:p>
                  </a:txBody>
                  <a:tcPr/>
                </a:tc>
                <a:extLst>
                  <a:ext uri="{0D108BD9-81ED-4DB2-BD59-A6C34878D82A}">
                    <a16:rowId xmlns:a16="http://schemas.microsoft.com/office/drawing/2014/main" val="672518870"/>
                  </a:ext>
                </a:extLst>
              </a:tr>
              <a:tr h="8792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made you choose this problem?</a:t>
                      </a:r>
                    </a:p>
                  </a:txBody>
                  <a:tcPr/>
                </a:tc>
                <a:tc>
                  <a:txBody>
                    <a:bodyPr/>
                    <a:lstStyle/>
                    <a:p>
                      <a:r>
                        <a:rPr lang="en-US"/>
                        <a:t>This issue is frequently faced in multiple APIs depend on each other and environments are unstable.</a:t>
                      </a:r>
                    </a:p>
                  </a:txBody>
                  <a:tcPr/>
                </a:tc>
                <a:extLst>
                  <a:ext uri="{0D108BD9-81ED-4DB2-BD59-A6C34878D82A}">
                    <a16:rowId xmlns:a16="http://schemas.microsoft.com/office/drawing/2014/main" val="2430104585"/>
                  </a:ext>
                </a:extLst>
              </a:tr>
              <a:tr h="6939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any market research conducted help frame the problem.</a:t>
                      </a:r>
                    </a:p>
                  </a:txBody>
                  <a:tcPr/>
                </a:tc>
                <a:tc>
                  <a:txBody>
                    <a:bodyPr/>
                    <a:lstStyle/>
                    <a:p>
                      <a:r>
                        <a:rPr lang="en-US"/>
                        <a:t>Industry uses mock API to improve execution speed.</a:t>
                      </a:r>
                    </a:p>
                  </a:txBody>
                  <a:tcPr/>
                </a:tc>
                <a:extLst>
                  <a:ext uri="{0D108BD9-81ED-4DB2-BD59-A6C34878D82A}">
                    <a16:rowId xmlns:a16="http://schemas.microsoft.com/office/drawing/2014/main" val="3224983629"/>
                  </a:ext>
                </a:extLst>
              </a:tr>
              <a:tr h="6939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txBody>
                  <a:tcPr/>
                </a:tc>
                <a:tc>
                  <a:txBody>
                    <a:bodyPr/>
                    <a:lstStyle/>
                    <a:p>
                      <a:endParaRPr lang="en-US"/>
                    </a:p>
                  </a:txBody>
                  <a:tcPr/>
                </a:tc>
                <a:extLst>
                  <a:ext uri="{0D108BD9-81ED-4DB2-BD59-A6C34878D82A}">
                    <a16:rowId xmlns:a16="http://schemas.microsoft.com/office/drawing/2014/main" val="1402606664"/>
                  </a:ext>
                </a:extLst>
              </a:tr>
            </a:tbl>
          </a:graphicData>
        </a:graphic>
      </p:graphicFrame>
    </p:spTree>
    <p:extLst>
      <p:ext uri="{BB962C8B-B14F-4D97-AF65-F5344CB8AC3E}">
        <p14:creationId xmlns:p14="http://schemas.microsoft.com/office/powerpoint/2010/main" val="2778685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D33-FFB9-A713-3833-1CF6A517A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FC14-66DD-CE63-FFE3-6DD68C7200D0}"/>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Overview/ Idea(Mock API)</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8CD7E4-0844-7969-9F9B-531E89A3DD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2B8CD7E4-0844-7969-9F9B-531E89A3DD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40AAA7A3-88DE-A73D-76B4-11EA3DE564F8}"/>
              </a:ext>
            </a:extLst>
          </p:cNvPr>
          <p:cNvGraphicFramePr>
            <a:graphicFrameLocks noGrp="1"/>
          </p:cNvGraphicFramePr>
          <p:nvPr>
            <p:extLst>
              <p:ext uri="{D42A27DB-BD31-4B8C-83A1-F6EECF244321}">
                <p14:modId xmlns:p14="http://schemas.microsoft.com/office/powerpoint/2010/main" val="4070532495"/>
              </p:ext>
            </p:extLst>
          </p:nvPr>
        </p:nvGraphicFramePr>
        <p:xfrm>
          <a:off x="1975162" y="941164"/>
          <a:ext cx="8067997" cy="5660254"/>
        </p:xfrm>
        <a:graphic>
          <a:graphicData uri="http://schemas.openxmlformats.org/drawingml/2006/table">
            <a:tbl>
              <a:tblPr firstRow="1" bandRow="1">
                <a:tableStyleId>{5C22544A-7EE6-4342-B048-85BDC9FD1C3A}</a:tableStyleId>
              </a:tblPr>
              <a:tblGrid>
                <a:gridCol w="3761126">
                  <a:extLst>
                    <a:ext uri="{9D8B030D-6E8A-4147-A177-3AD203B41FA5}">
                      <a16:colId xmlns:a16="http://schemas.microsoft.com/office/drawing/2014/main" val="3420260581"/>
                    </a:ext>
                  </a:extLst>
                </a:gridCol>
                <a:gridCol w="4306871">
                  <a:extLst>
                    <a:ext uri="{9D8B030D-6E8A-4147-A177-3AD203B41FA5}">
                      <a16:colId xmlns:a16="http://schemas.microsoft.com/office/drawing/2014/main" val="910197492"/>
                    </a:ext>
                  </a:extLst>
                </a:gridCol>
              </a:tblGrid>
              <a:tr h="70673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1146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provide short description of the solution</a:t>
                      </a:r>
                    </a:p>
                  </a:txBody>
                  <a:tcPr/>
                </a:tc>
                <a:tc>
                  <a:txBody>
                    <a:bodyPr/>
                    <a:lstStyle/>
                    <a:p>
                      <a:r>
                        <a:rPr lang="en-US"/>
                        <a:t>A Mock API framework using playwright that intercepts API calls, fetches test data from </a:t>
                      </a:r>
                      <a:r>
                        <a:rPr lang="en-US" err="1"/>
                        <a:t>db</a:t>
                      </a:r>
                      <a:r>
                        <a:rPr lang="en-US"/>
                        <a:t> and returns simulated responses for validation.</a:t>
                      </a:r>
                    </a:p>
                  </a:txBody>
                  <a:tcPr/>
                </a:tc>
                <a:extLst>
                  <a:ext uri="{0D108BD9-81ED-4DB2-BD59-A6C34878D82A}">
                    <a16:rowId xmlns:a16="http://schemas.microsoft.com/office/drawing/2014/main" val="2694735506"/>
                  </a:ext>
                </a:extLst>
              </a:tr>
              <a:tr h="712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are the key objectives you are planning to achieve</a:t>
                      </a:r>
                    </a:p>
                  </a:txBody>
                  <a:tcPr/>
                </a:tc>
                <a:tc>
                  <a:txBody>
                    <a:bodyPr/>
                    <a:lstStyle/>
                    <a:p>
                      <a:r>
                        <a:rPr lang="en-US"/>
                        <a:t>Remove dependency on real APIs</a:t>
                      </a:r>
                      <a:br>
                        <a:rPr lang="en-US"/>
                      </a:br>
                      <a:r>
                        <a:rPr lang="en-US"/>
                        <a:t>Support CI/CD pipelines.</a:t>
                      </a:r>
                    </a:p>
                  </a:txBody>
                  <a:tcPr/>
                </a:tc>
                <a:extLst>
                  <a:ext uri="{0D108BD9-81ED-4DB2-BD59-A6C34878D82A}">
                    <a16:rowId xmlns:a16="http://schemas.microsoft.com/office/drawing/2014/main" val="2766325250"/>
                  </a:ext>
                </a:extLst>
              </a:tr>
              <a:tr h="712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How does your solution achieve to address the problem statement?</a:t>
                      </a:r>
                    </a:p>
                  </a:txBody>
                  <a:tcPr/>
                </a:tc>
                <a:tc>
                  <a:txBody>
                    <a:bodyPr/>
                    <a:lstStyle/>
                    <a:p>
                      <a:r>
                        <a:rPr lang="en-US"/>
                        <a:t>Intercepts API using </a:t>
                      </a:r>
                      <a:r>
                        <a:rPr lang="en-US" err="1"/>
                        <a:t>page.route</a:t>
                      </a:r>
                      <a:r>
                        <a:rPr lang="en-US"/>
                        <a:t>()</a:t>
                      </a:r>
                      <a:br>
                        <a:rPr lang="en-US"/>
                      </a:br>
                      <a:r>
                        <a:rPr lang="en-US"/>
                        <a:t>Generates mock responses dynamically.</a:t>
                      </a:r>
                    </a:p>
                  </a:txBody>
                  <a:tcPr/>
                </a:tc>
                <a:extLst>
                  <a:ext uri="{0D108BD9-81ED-4DB2-BD59-A6C34878D82A}">
                    <a16:rowId xmlns:a16="http://schemas.microsoft.com/office/drawing/2014/main" val="672518870"/>
                  </a:ext>
                </a:extLst>
              </a:tr>
              <a:tr h="8819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explain the technology stack selected.</a:t>
                      </a:r>
                    </a:p>
                  </a:txBody>
                  <a:tcPr/>
                </a:tc>
                <a:tc>
                  <a:txBody>
                    <a:bodyPr/>
                    <a:lstStyle/>
                    <a:p>
                      <a:r>
                        <a:rPr lang="en-US"/>
                        <a:t>Playwright – JS -&gt; API Automation</a:t>
                      </a:r>
                      <a:br>
                        <a:rPr lang="en-US"/>
                      </a:br>
                      <a:r>
                        <a:rPr lang="en-US"/>
                        <a:t>Node JS - &gt;RunTime</a:t>
                      </a:r>
                      <a:br>
                        <a:rPr lang="en-US"/>
                      </a:br>
                      <a:r>
                        <a:rPr lang="en-US"/>
                        <a:t>MongoDB -&gt; Test data storage</a:t>
                      </a:r>
                    </a:p>
                  </a:txBody>
                  <a:tcPr/>
                </a:tc>
                <a:extLst>
                  <a:ext uri="{0D108BD9-81ED-4DB2-BD59-A6C34878D82A}">
                    <a16:rowId xmlns:a16="http://schemas.microsoft.com/office/drawing/2014/main" val="2430104585"/>
                  </a:ext>
                </a:extLst>
              </a:tr>
              <a:tr h="712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provide justification on why your approach is best.</a:t>
                      </a:r>
                    </a:p>
                  </a:txBody>
                  <a:tcPr/>
                </a:tc>
                <a:tc>
                  <a:txBody>
                    <a:bodyPr/>
                    <a:lstStyle/>
                    <a:p>
                      <a:r>
                        <a:rPr lang="en-US"/>
                        <a:t>Eliminates environment dependency</a:t>
                      </a:r>
                      <a:br>
                        <a:rPr lang="en-US"/>
                      </a:br>
                      <a:r>
                        <a:rPr lang="en-US"/>
                        <a:t>Supports both UI and API Testing.</a:t>
                      </a:r>
                    </a:p>
                  </a:txBody>
                  <a:tcPr/>
                </a:tc>
                <a:extLst>
                  <a:ext uri="{0D108BD9-81ED-4DB2-BD59-A6C34878D82A}">
                    <a16:rowId xmlns:a16="http://schemas.microsoft.com/office/drawing/2014/main" val="3224983629"/>
                  </a:ext>
                </a:extLst>
              </a:tr>
              <a:tr h="7126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is the state you were able to achieve?</a:t>
                      </a:r>
                    </a:p>
                  </a:txBody>
                  <a:tcPr/>
                </a:tc>
                <a:tc>
                  <a:txBody>
                    <a:bodyPr/>
                    <a:lstStyle/>
                    <a:p>
                      <a:r>
                        <a:rPr lang="en-US"/>
                        <a:t>Created mock API flow</a:t>
                      </a:r>
                      <a:br>
                        <a:rPr lang="en-US"/>
                      </a:br>
                      <a:endParaRPr lang="en-US"/>
                    </a:p>
                  </a:txBody>
                  <a:tcPr/>
                </a:tc>
                <a:extLst>
                  <a:ext uri="{0D108BD9-81ED-4DB2-BD59-A6C34878D82A}">
                    <a16:rowId xmlns:a16="http://schemas.microsoft.com/office/drawing/2014/main" val="2247336996"/>
                  </a:ext>
                </a:extLst>
              </a:tr>
            </a:tbl>
          </a:graphicData>
        </a:graphic>
      </p:graphicFrame>
    </p:spTree>
    <p:extLst>
      <p:ext uri="{BB962C8B-B14F-4D97-AF65-F5344CB8AC3E}">
        <p14:creationId xmlns:p14="http://schemas.microsoft.com/office/powerpoint/2010/main" val="2838997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1C68-AFBB-1A2B-5AC3-6919FC626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63421-089E-B67A-0F28-336EC740178B}"/>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Implementation(Mock API)</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323983-D49B-0E07-0DB0-5C37A2608FCE}"/>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323983-D49B-0E07-0DB0-5C37A2608FCE}"/>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7D9F00AA-B82B-392D-F0D4-348A049C2DF3}"/>
              </a:ext>
            </a:extLst>
          </p:cNvPr>
          <p:cNvSpPr txBox="1"/>
          <p:nvPr/>
        </p:nvSpPr>
        <p:spPr>
          <a:xfrm>
            <a:off x="137911" y="822276"/>
            <a:ext cx="11701787" cy="6186309"/>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b="1"/>
              <a:t>High-level architecture / workflow</a:t>
            </a:r>
          </a:p>
          <a:p>
            <a:endParaRPr lang="en-US" b="1"/>
          </a:p>
          <a:p>
            <a:r>
              <a:rPr lang="en-US"/>
              <a:t>    - Playwright sends API request to target endpoint.</a:t>
            </a:r>
          </a:p>
          <a:p>
            <a:r>
              <a:rPr lang="en-US"/>
              <a:t>    - Request is intercepted using </a:t>
            </a:r>
            <a:r>
              <a:rPr lang="en-US" err="1"/>
              <a:t>page.route</a:t>
            </a:r>
            <a:r>
              <a:rPr lang="en-US"/>
              <a:t>().</a:t>
            </a:r>
          </a:p>
          <a:p>
            <a:r>
              <a:rPr lang="en-US"/>
              <a:t>    - Test data is fetched dynamically from db.</a:t>
            </a:r>
          </a:p>
          <a:p>
            <a:r>
              <a:rPr lang="en-US"/>
              <a:t>    - Response is returned to application.</a:t>
            </a:r>
          </a:p>
          <a:p>
            <a:r>
              <a:rPr lang="en-US"/>
              <a:t>    - Validation is performed against data.</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Major components / modules</a:t>
            </a:r>
          </a:p>
          <a:p>
            <a:r>
              <a:rPr lang="en-US" b="1"/>
              <a:t>       </a:t>
            </a:r>
          </a:p>
          <a:p>
            <a:r>
              <a:rPr lang="en-US" b="1"/>
              <a:t>      </a:t>
            </a:r>
            <a:r>
              <a:rPr lang="en-US"/>
              <a:t>- Test layer</a:t>
            </a:r>
          </a:p>
          <a:p>
            <a:r>
              <a:rPr lang="en-US" b="1"/>
              <a:t>      </a:t>
            </a:r>
            <a:r>
              <a:rPr lang="en-US"/>
              <a:t>- Mock layer</a:t>
            </a:r>
          </a:p>
          <a:p>
            <a:r>
              <a:rPr lang="en-US" b="1"/>
              <a:t>      </a:t>
            </a:r>
            <a:r>
              <a:rPr lang="en-US"/>
              <a:t>- Data layer</a:t>
            </a:r>
          </a:p>
          <a:p>
            <a:r>
              <a:rPr lang="en-US"/>
              <a:t>      - Validation and Reporting layer</a:t>
            </a:r>
            <a:endParaRPr lang="en-US">
              <a:ea typeface="Calibri"/>
              <a:cs typeface="Calibri"/>
            </a:endParaRPr>
          </a:p>
          <a:p>
            <a:r>
              <a:rPr lang="en-US" b="1"/>
              <a:t> </a:t>
            </a:r>
            <a:endParaRPr lang="en-US">
              <a:ea typeface="Calibri"/>
              <a:cs typeface="Calibri"/>
            </a:endParaRPr>
          </a:p>
          <a:p>
            <a:pPr marL="285750" indent="-285750">
              <a:buFont typeface="Arial,Sans-Serif"/>
              <a:buChar char="•"/>
            </a:pPr>
            <a:r>
              <a:rPr lang="en-US" b="1">
                <a:ea typeface="Calibri"/>
                <a:cs typeface="Calibri"/>
              </a:rPr>
              <a:t>Technologies or tools used</a:t>
            </a:r>
            <a:endParaRPr lang="en-US">
              <a:ea typeface="Calibri"/>
              <a:cs typeface="Calibri"/>
            </a:endParaRPr>
          </a:p>
          <a:p>
            <a:pPr marL="285750" indent="-285750">
              <a:buFont typeface="Arial,Sans-Serif"/>
              <a:buChar char="•"/>
            </a:pPr>
            <a:endParaRPr lang="en-US">
              <a:ea typeface="Calibri"/>
              <a:cs typeface="Calibri"/>
            </a:endParaRPr>
          </a:p>
          <a:p>
            <a:r>
              <a:rPr lang="en-US">
                <a:ea typeface="Calibri"/>
                <a:cs typeface="Calibri"/>
              </a:rPr>
              <a:t>- Playwright with </a:t>
            </a:r>
            <a:r>
              <a:rPr lang="en-US" err="1">
                <a:ea typeface="Calibri"/>
                <a:cs typeface="Calibri"/>
              </a:rPr>
              <a:t>Javascript</a:t>
            </a:r>
          </a:p>
          <a:p>
            <a:pPr marL="285750" indent="-285750">
              <a:buFont typeface="Arial"/>
              <a:buChar char="•"/>
            </a:pPr>
            <a:r>
              <a:rPr lang="en-US">
                <a:ea typeface="Calibri"/>
                <a:cs typeface="Calibri"/>
              </a:rPr>
              <a:t>Node JS and React </a:t>
            </a:r>
            <a:r>
              <a:rPr lang="en-US" err="1">
                <a:ea typeface="Calibri"/>
                <a:cs typeface="Calibri"/>
              </a:rPr>
              <a:t>Js</a:t>
            </a:r>
          </a:p>
          <a:p>
            <a:pPr marL="285750" indent="-285750">
              <a:buFont typeface="Arial"/>
              <a:buChar char="•"/>
            </a:pPr>
            <a:r>
              <a:rPr lang="en-US">
                <a:ea typeface="Calibri"/>
                <a:cs typeface="Calibri"/>
              </a:rPr>
              <a:t>MongoDB</a:t>
            </a:r>
          </a:p>
          <a:p>
            <a:endParaRPr lang="en-US">
              <a:ea typeface="Calibri"/>
              <a:cs typeface="Calibri"/>
            </a:endParaRPr>
          </a:p>
          <a:p>
            <a:pPr marL="285750" indent="-285750">
              <a:buChar char="-"/>
            </a:pPr>
            <a:endParaRPr lang="en-US">
              <a:ea typeface="Calibri"/>
              <a:cs typeface="Calibri"/>
            </a:endParaRPr>
          </a:p>
        </p:txBody>
      </p:sp>
    </p:spTree>
    <p:extLst>
      <p:ext uri="{BB962C8B-B14F-4D97-AF65-F5344CB8AC3E}">
        <p14:creationId xmlns:p14="http://schemas.microsoft.com/office/powerpoint/2010/main" val="3877562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87CB-4DE1-36F8-8BAD-3E711C54B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9E497-F02D-6921-4201-D66C2B29A4FC}"/>
              </a:ext>
            </a:extLst>
          </p:cNvPr>
          <p:cNvSpPr>
            <a:spLocks noGrp="1"/>
          </p:cNvSpPr>
          <p:nvPr>
            <p:ph type="title"/>
          </p:nvPr>
        </p:nvSpPr>
        <p:spPr>
          <a:xfrm>
            <a:off x="280417" y="178684"/>
            <a:ext cx="7407188" cy="369332"/>
          </a:xfrm>
        </p:spPr>
        <p:txBody>
          <a:bodyPr anchor="ctr">
            <a:normAutofit fontScale="90000"/>
          </a:bodyPr>
          <a:lstStyle/>
          <a:p>
            <a:r>
              <a:rPr lang="en-US">
                <a:latin typeface="Aptos"/>
              </a:rPr>
              <a:t>Three Key Features(Mock API)</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EC76337-F850-1150-322B-7C8C510D0F8D}"/>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EC76337-F850-1150-322B-7C8C510D0F8D}"/>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BC7DA58D-2973-ECBA-406F-BF94DE1185FC}"/>
              </a:ext>
            </a:extLst>
          </p:cNvPr>
          <p:cNvGraphicFramePr>
            <a:graphicFrameLocks noGrp="1"/>
          </p:cNvGraphicFramePr>
          <p:nvPr/>
        </p:nvGraphicFramePr>
        <p:xfrm>
          <a:off x="1631950" y="941164"/>
          <a:ext cx="8411210" cy="405638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4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Feature1:</a:t>
                      </a:r>
                    </a:p>
                  </a:txBody>
                  <a:tcPr/>
                </a:tc>
                <a:tc>
                  <a:txBody>
                    <a:bodyPr/>
                    <a:lstStyle/>
                    <a:p>
                      <a:r>
                        <a:rPr lang="en-US"/>
                        <a:t>Name: Mock API Execution</a:t>
                      </a:r>
                    </a:p>
                    <a:p>
                      <a:r>
                        <a:rPr lang="en-US"/>
                        <a:t>Business description: Allows API responses to be simulated dynamically without depending on real backend services.</a:t>
                      </a:r>
                    </a:p>
                    <a:p>
                      <a:r>
                        <a:rPr lang="en-US"/>
                        <a:t>Achievements: Improved test stability</a:t>
                      </a:r>
                    </a:p>
                  </a:txBody>
                  <a:tcPr/>
                </a:tc>
                <a:extLst>
                  <a:ext uri="{0D108BD9-81ED-4DB2-BD59-A6C34878D82A}">
                    <a16:rowId xmlns:a16="http://schemas.microsoft.com/office/drawing/2014/main" val="2694735506"/>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Feature2:</a:t>
                      </a:r>
                    </a:p>
                  </a:txBody>
                  <a:tcPr/>
                </a:tc>
                <a:tc>
                  <a:txBody>
                    <a:bodyPr/>
                    <a:lstStyle/>
                    <a:p>
                      <a:r>
                        <a:rPr lang="en-US"/>
                        <a:t>Name:</a:t>
                      </a:r>
                    </a:p>
                    <a:p>
                      <a:r>
                        <a:rPr lang="en-US"/>
                        <a:t>Business description:</a:t>
                      </a:r>
                    </a:p>
                    <a:p>
                      <a:r>
                        <a:rPr lang="en-US"/>
                        <a:t>Achievements:</a:t>
                      </a:r>
                    </a:p>
                  </a:txBody>
                  <a:tcPr/>
                </a:tc>
                <a:extLst>
                  <a:ext uri="{0D108BD9-81ED-4DB2-BD59-A6C34878D82A}">
                    <a16:rowId xmlns:a16="http://schemas.microsoft.com/office/drawing/2014/main" val="276632525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Feature3:</a:t>
                      </a:r>
                    </a:p>
                  </a:txBody>
                  <a:tcPr/>
                </a:tc>
                <a:tc>
                  <a:txBody>
                    <a:bodyPr/>
                    <a:lstStyle/>
                    <a:p>
                      <a:r>
                        <a:rPr lang="en-US"/>
                        <a:t>Name:</a:t>
                      </a:r>
                    </a:p>
                    <a:p>
                      <a:r>
                        <a:rPr lang="en-US"/>
                        <a:t>Business description:</a:t>
                      </a:r>
                    </a:p>
                    <a:p>
                      <a:r>
                        <a:rPr lang="en-US"/>
                        <a:t>Achievements:</a:t>
                      </a:r>
                    </a:p>
                  </a:txBody>
                  <a:tcPr/>
                </a:tc>
                <a:extLst>
                  <a:ext uri="{0D108BD9-81ED-4DB2-BD59-A6C34878D82A}">
                    <a16:rowId xmlns:a16="http://schemas.microsoft.com/office/drawing/2014/main" val="672518870"/>
                  </a:ext>
                </a:extLst>
              </a:tr>
            </a:tbl>
          </a:graphicData>
        </a:graphic>
      </p:graphicFrame>
    </p:spTree>
    <p:extLst>
      <p:ext uri="{BB962C8B-B14F-4D97-AF65-F5344CB8AC3E}">
        <p14:creationId xmlns:p14="http://schemas.microsoft.com/office/powerpoint/2010/main" val="4104331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8D98-1538-EB7B-B626-52AB2B5CA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9C7E0-41CC-249F-2880-C94DB221C3E6}"/>
              </a:ext>
            </a:extLst>
          </p:cNvPr>
          <p:cNvSpPr>
            <a:spLocks noGrp="1"/>
          </p:cNvSpPr>
          <p:nvPr>
            <p:ph type="title"/>
          </p:nvPr>
        </p:nvSpPr>
        <p:spPr>
          <a:xfrm>
            <a:off x="280417" y="178684"/>
            <a:ext cx="7407188" cy="369332"/>
          </a:xfrm>
        </p:spPr>
        <p:txBody>
          <a:bodyPr anchor="ctr">
            <a:normAutofit fontScale="90000"/>
          </a:bodyPr>
          <a:lstStyle/>
          <a:p>
            <a:r>
              <a:rPr lang="en-US">
                <a:latin typeface="Aptos"/>
              </a:rPr>
              <a:t>Demo(Mock API)</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7AA07F-066E-4914-46E7-27FFF51CE8E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677AA07F-066E-4914-46E7-27FFF51CE8E0}"/>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C5101CBB-275F-7A57-A1F9-E3639801A64A}"/>
              </a:ext>
            </a:extLst>
          </p:cNvPr>
          <p:cNvSpPr txBox="1"/>
          <p:nvPr/>
        </p:nvSpPr>
        <p:spPr>
          <a:xfrm>
            <a:off x="280416" y="774774"/>
            <a:ext cx="7372898" cy="2862322"/>
          </a:xfrm>
          <a:prstGeom prst="rect">
            <a:avLst/>
          </a:prstGeom>
          <a:noFill/>
        </p:spPr>
        <p:txBody>
          <a:bodyPr wrap="square">
            <a:spAutoFit/>
          </a:bodyPr>
          <a:lstStyle/>
          <a:p>
            <a:pPr marL="285750" indent="-285750">
              <a:buFont typeface="Arial" panose="020B0604020202020204" pitchFamily="34" charset="0"/>
              <a:buChar char="•"/>
            </a:pPr>
            <a:r>
              <a:rPr lang="en-US" b="1"/>
              <a:t>Short demo video/screenshots</a:t>
            </a:r>
          </a:p>
          <a:p>
            <a:pPr marL="285750" indent="-285750">
              <a:buFont typeface="Arial" panose="020B0604020202020204" pitchFamily="34" charset="0"/>
              <a:buChar char="•"/>
            </a:pPr>
            <a:r>
              <a:rPr lang="en-US" b="1"/>
              <a:t>User flow walkthrough</a:t>
            </a:r>
          </a:p>
          <a:p>
            <a:pPr marL="285750" indent="-285750">
              <a:buFontTx/>
              <a:buChar char="-"/>
            </a:pPr>
            <a:r>
              <a:rPr lang="en-US"/>
              <a:t>Read test data.</a:t>
            </a:r>
          </a:p>
          <a:p>
            <a:pPr marL="285750" indent="-285750">
              <a:buFontTx/>
              <a:buChar char="-"/>
            </a:pPr>
            <a:r>
              <a:rPr lang="en-US"/>
              <a:t>Build API endpoint</a:t>
            </a:r>
          </a:p>
          <a:p>
            <a:pPr marL="285750" indent="-285750">
              <a:buFontTx/>
              <a:buChar char="-"/>
            </a:pPr>
            <a:r>
              <a:rPr lang="en-US"/>
              <a:t>Trigger API request using Playwright</a:t>
            </a:r>
          </a:p>
          <a:p>
            <a:pPr marL="285750" indent="-285750">
              <a:buFontTx/>
              <a:buChar char="-"/>
            </a:pPr>
            <a:r>
              <a:rPr lang="en-US"/>
              <a:t>Intercept API using </a:t>
            </a:r>
            <a:r>
              <a:rPr lang="en-US" err="1"/>
              <a:t>page.route</a:t>
            </a:r>
            <a:r>
              <a:rPr lang="en-US"/>
              <a:t>()</a:t>
            </a:r>
          </a:p>
          <a:p>
            <a:pPr marL="285750" indent="-285750">
              <a:buFontTx/>
              <a:buChar char="-"/>
            </a:pPr>
            <a:r>
              <a:rPr lang="en-US"/>
              <a:t>Return mock response dynamically.</a:t>
            </a:r>
          </a:p>
          <a:p>
            <a:pPr marL="285750" indent="-285750">
              <a:buFontTx/>
              <a:buChar char="-"/>
            </a:pPr>
            <a:r>
              <a:rPr lang="en-US"/>
              <a:t>Validate response with expected data.</a:t>
            </a:r>
          </a:p>
          <a:p>
            <a:pPr marL="285750" indent="-285750">
              <a:buFontTx/>
              <a:buChar char="-"/>
            </a:pPr>
            <a:r>
              <a:rPr lang="en-US"/>
              <a:t>Capture and store execution results in properties file.</a:t>
            </a:r>
          </a:p>
          <a:p>
            <a:pPr marL="285750" indent="-285750">
              <a:buFont typeface="Arial" panose="020B0604020202020204" pitchFamily="34" charset="0"/>
              <a:buChar char="•"/>
            </a:pPr>
            <a:r>
              <a:rPr lang="en-US" b="1"/>
              <a:t>Record the videos with transcripts</a:t>
            </a:r>
          </a:p>
        </p:txBody>
      </p:sp>
    </p:spTree>
    <p:extLst>
      <p:ext uri="{BB962C8B-B14F-4D97-AF65-F5344CB8AC3E}">
        <p14:creationId xmlns:p14="http://schemas.microsoft.com/office/powerpoint/2010/main" val="2010241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1C1B-B772-3770-5515-726B1AC91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456EB-B09F-4E99-E55D-8EB4D6EC1BB3}"/>
              </a:ext>
            </a:extLst>
          </p:cNvPr>
          <p:cNvSpPr>
            <a:spLocks noGrp="1"/>
          </p:cNvSpPr>
          <p:nvPr>
            <p:ph type="title"/>
          </p:nvPr>
        </p:nvSpPr>
        <p:spPr>
          <a:xfrm>
            <a:off x="280417" y="178684"/>
            <a:ext cx="7407188" cy="369332"/>
          </a:xfrm>
        </p:spPr>
        <p:txBody>
          <a:bodyPr anchor="ctr">
            <a:normAutofit fontScale="90000"/>
          </a:bodyPr>
          <a:lstStyle/>
          <a:p>
            <a:r>
              <a:rPr lang="en-US">
                <a:latin typeface="Aptos"/>
              </a:rPr>
              <a:t>Outcomes(Mock API)</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10B378C-EC97-8216-C222-FECCF4799B2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10B378C-EC97-8216-C222-FECCF4799B23}"/>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977D0765-E910-8684-4AA9-3210FD5B4B3E}"/>
              </a:ext>
            </a:extLst>
          </p:cNvPr>
          <p:cNvGraphicFramePr>
            <a:graphicFrameLocks noGrp="1"/>
          </p:cNvGraphicFramePr>
          <p:nvPr/>
        </p:nvGraphicFramePr>
        <p:xfrm>
          <a:off x="1631950" y="941164"/>
          <a:ext cx="8411210" cy="427863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45160">
                <a:tc>
                  <a:txBody>
                    <a:bodyPr/>
                    <a:lstStyle/>
                    <a:p>
                      <a:pPr marL="0" indent="0">
                        <a:buFont typeface="Arial" panose="020B0604020202020204" pitchFamily="34" charset="0"/>
                        <a:buNone/>
                      </a:pPr>
                      <a:r>
                        <a:rPr lang="en-US"/>
                        <a:t>Business impact</a:t>
                      </a:r>
                    </a:p>
                  </a:txBody>
                  <a:tcPr/>
                </a:tc>
                <a:tc>
                  <a:txBody>
                    <a:bodyPr/>
                    <a:lstStyle/>
                    <a:p>
                      <a:r>
                        <a:rPr lang="en-US"/>
                        <a:t>Improved framework by reducing dependency on real backend APIs. This helps QA and business team validate functionality earlier.</a:t>
                      </a:r>
                    </a:p>
                  </a:txBody>
                  <a:tcPr/>
                </a:tc>
                <a:extLst>
                  <a:ext uri="{0D108BD9-81ED-4DB2-BD59-A6C34878D82A}">
                    <a16:rowId xmlns:a16="http://schemas.microsoft.com/office/drawing/2014/main" val="2694735506"/>
                  </a:ext>
                </a:extLst>
              </a:tr>
              <a:tr h="770890">
                <a:tc>
                  <a:txBody>
                    <a:bodyPr/>
                    <a:lstStyle/>
                    <a:p>
                      <a:pPr marL="0" indent="0">
                        <a:buFont typeface="Arial" panose="020B0604020202020204" pitchFamily="34" charset="0"/>
                        <a:buNone/>
                      </a:pPr>
                      <a:r>
                        <a:rPr lang="en-US"/>
                        <a:t>Achieved Technical benefits</a:t>
                      </a:r>
                    </a:p>
                  </a:txBody>
                  <a:tcPr/>
                </a:tc>
                <a:tc>
                  <a:txBody>
                    <a:bodyPr/>
                    <a:lstStyle/>
                    <a:p>
                      <a:r>
                        <a:rPr lang="en-US"/>
                        <a:t>Enables stable API testing through mock responses, supported data –driven execution from DB.</a:t>
                      </a:r>
                    </a:p>
                  </a:txBody>
                  <a:tcPr/>
                </a:tc>
                <a:extLst>
                  <a:ext uri="{0D108BD9-81ED-4DB2-BD59-A6C34878D82A}">
                    <a16:rowId xmlns:a16="http://schemas.microsoft.com/office/drawing/2014/main" val="2766325250"/>
                  </a:ext>
                </a:extLst>
              </a:tr>
              <a:tr h="770890">
                <a:tc>
                  <a:txBody>
                    <a:bodyPr/>
                    <a:lstStyle/>
                    <a:p>
                      <a:pPr marL="0" indent="0">
                        <a:buFont typeface="Arial" panose="020B0604020202020204" pitchFamily="34" charset="0"/>
                        <a:buNone/>
                      </a:pPr>
                      <a:r>
                        <a:rPr lang="en-US"/>
                        <a:t>Cost/time/value improvements</a:t>
                      </a:r>
                    </a:p>
                  </a:txBody>
                  <a:tcPr/>
                </a:tc>
                <a:tc>
                  <a:txBody>
                    <a:bodyPr/>
                    <a:lstStyle/>
                    <a:p>
                      <a:r>
                        <a:rPr lang="en-US"/>
                        <a:t>Reduced execution time by avoiding real service dependencies and improved tester productivity.</a:t>
                      </a:r>
                    </a:p>
                  </a:txBody>
                  <a:tcPr/>
                </a:tc>
                <a:extLst>
                  <a:ext uri="{0D108BD9-81ED-4DB2-BD59-A6C34878D82A}">
                    <a16:rowId xmlns:a16="http://schemas.microsoft.com/office/drawing/2014/main" val="672518870"/>
                  </a:ext>
                </a:extLst>
              </a:tr>
              <a:tr h="770890">
                <a:tc>
                  <a:txBody>
                    <a:bodyPr/>
                    <a:lstStyle/>
                    <a:p>
                      <a:pPr marL="0" indent="0">
                        <a:buFont typeface="Arial" panose="020B0604020202020204" pitchFamily="34" charset="0"/>
                        <a:buNone/>
                      </a:pPr>
                      <a:r>
                        <a:rPr lang="en-US"/>
                        <a:t>Key Metrics</a:t>
                      </a:r>
                    </a:p>
                  </a:txBody>
                  <a:tcPr/>
                </a:tc>
                <a:tc>
                  <a:txBody>
                    <a:bodyPr/>
                    <a:lstStyle/>
                    <a:p>
                      <a:pPr marL="285750" indent="-285750">
                        <a:buFontTx/>
                        <a:buChar char="-"/>
                      </a:pPr>
                      <a:r>
                        <a:rPr lang="en-US"/>
                        <a:t>Reduced environment related failures.</a:t>
                      </a:r>
                    </a:p>
                    <a:p>
                      <a:pPr marL="285750" indent="-285750">
                        <a:buFontTx/>
                        <a:buChar char="-"/>
                      </a:pPr>
                      <a:r>
                        <a:rPr lang="en-US"/>
                        <a:t>Improved defect detection in early stages.</a:t>
                      </a:r>
                    </a:p>
                  </a:txBody>
                  <a:tcPr/>
                </a:tc>
                <a:extLst>
                  <a:ext uri="{0D108BD9-81ED-4DB2-BD59-A6C34878D82A}">
                    <a16:rowId xmlns:a16="http://schemas.microsoft.com/office/drawing/2014/main" val="1404047477"/>
                  </a:ext>
                </a:extLst>
              </a:tr>
            </a:tbl>
          </a:graphicData>
        </a:graphic>
      </p:graphicFrame>
    </p:spTree>
    <p:extLst>
      <p:ext uri="{BB962C8B-B14F-4D97-AF65-F5344CB8AC3E}">
        <p14:creationId xmlns:p14="http://schemas.microsoft.com/office/powerpoint/2010/main" val="4157827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391153"/>
      </p:ext>
    </p:extLst>
  </p:cSld>
  <p:clrMapOvr>
    <a:masterClrMapping/>
  </p:clrMapOvr>
</p:sld>
</file>

<file path=ppt/theme/theme1.xml><?xml version="1.0" encoding="utf-8"?>
<a:theme xmlns:a="http://schemas.openxmlformats.org/drawingml/2006/main" name="4_Slides Master">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phasis PPT Template_Nov2023" id="{1B2DFAC1-B39A-4E2F-A322-FB077CD5D9AA}" vid="{32200839-60F2-4D52-B4BB-35CCE150B3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4f699ca-2f55-40f8-96e6-b052976d7d5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583BC28D42E14183DF541D5473D02A" ma:contentTypeVersion="5" ma:contentTypeDescription="Create a new document." ma:contentTypeScope="" ma:versionID="f874f68a8e485b434678cad75cd0f6f6">
  <xsd:schema xmlns:xsd="http://www.w3.org/2001/XMLSchema" xmlns:xs="http://www.w3.org/2001/XMLSchema" xmlns:p="http://schemas.microsoft.com/office/2006/metadata/properties" xmlns:ns3="14f699ca-2f55-40f8-96e6-b052976d7d57" targetNamespace="http://schemas.microsoft.com/office/2006/metadata/properties" ma:root="true" ma:fieldsID="add65df5a3e56aaaedd776a88837523a" ns3:_="">
    <xsd:import namespace="14f699ca-2f55-40f8-96e6-b052976d7d5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f699ca-2f55-40f8-96e6-b052976d7d5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A8EF4B-3633-42B6-A925-6DD613C132AD}">
  <ds:schemaRefs>
    <ds:schemaRef ds:uri="14f699ca-2f55-40f8-96e6-b052976d7d5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182AD9E-0D36-4BB5-9CE2-BE33EBF730F1}">
  <ds:schemaRefs>
    <ds:schemaRef ds:uri="14f699ca-2f55-40f8-96e6-b052976d7d5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961899-FBFA-49A7-BEF6-F7A44DE7BD49}">
  <ds:schemaRefs>
    <ds:schemaRef ds:uri="http://schemas.microsoft.com/sharepoint/v3/contenttype/forms"/>
  </ds:schemaRefs>
</ds:datastoreItem>
</file>

<file path=docMetadata/LabelInfo.xml><?xml version="1.0" encoding="utf-8"?>
<clbl:labelList xmlns:clbl="http://schemas.microsoft.com/office/2020/mipLabelMetadata">
  <clbl:label id="{665b6c62-7310-4d39-9abb-32a0cbc3b90f}" enabled="0" method="" siteId="{665b6c62-7310-4d39-9abb-32a0cbc3b90f}" removed="1"/>
</clbl:labelList>
</file>

<file path=docProps/app.xml><?xml version="1.0" encoding="utf-8"?>
<Properties xmlns="http://schemas.openxmlformats.org/officeDocument/2006/extended-properties" xmlns:vt="http://schemas.openxmlformats.org/officeDocument/2006/docPropsVTypes">
  <Template>Mphasis PPT Template_Nov2023</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4_Slides Master</vt:lpstr>
      <vt:lpstr>Hotel management system                  and Mock Api using Playwright</vt:lpstr>
      <vt:lpstr>Team Introduction</vt:lpstr>
      <vt:lpstr>Problem Statement </vt:lpstr>
      <vt:lpstr>Solution Overview/ Idea</vt:lpstr>
      <vt:lpstr>Solution Implementation</vt:lpstr>
      <vt:lpstr>Three Key Features</vt:lpstr>
      <vt:lpstr>Test Scenarios</vt:lpstr>
      <vt:lpstr>Demo</vt:lpstr>
      <vt:lpstr>Outcomes</vt:lpstr>
      <vt:lpstr>Problem Statement (Mock API) </vt:lpstr>
      <vt:lpstr>Solution Overview/ Idea(Mock API)</vt:lpstr>
      <vt:lpstr>Solution Implementation(Mock API)</vt:lpstr>
      <vt:lpstr>Three Key Features(Mock API)</vt:lpstr>
      <vt:lpstr>Demo(Mock API)</vt:lpstr>
      <vt:lpstr>Outcomes(Mock API)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Mphasis Proposal</dc:title>
  <dc:creator>Jobin Abraham</dc:creator>
  <cp:revision>4</cp:revision>
  <dcterms:created xsi:type="dcterms:W3CDTF">2023-11-17T15:57:09Z</dcterms:created>
  <dcterms:modified xsi:type="dcterms:W3CDTF">2026-04-01T14:27:52Z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0x01010032583BC28D42E14183DF541D5473D02A</vt:lpwstr>
  </property>
  <property fmtid="{D5CDD505-2E9C-101B-9397-08002B2CF9AE}" pid="3" name="MediaServiceImageTags">
    <vt:lpwstr/>
  </property>
  <property fmtid="{D5CDD505-2E9C-101B-9397-08002B2CF9AE}" pid="4" name="Technical Area">
    <vt:lpwstr>AMS</vt:lpwstr>
  </property>
  <property fmtid="{D5CDD505-2E9C-101B-9397-08002B2CF9AE}" pid="5" name="Tower">
    <vt:lpwstr>BPS</vt:lpwstr>
  </property>
</Properties>
</file>